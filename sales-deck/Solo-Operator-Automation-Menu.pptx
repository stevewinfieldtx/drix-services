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5695" y="64008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417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EF7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RESELLERS SELLING TO SOLO OPERATORS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777240" y="1828800"/>
            <a:ext cx="10515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person.</a:t>
            </a:r>
            <a:endParaRPr lang="en-US" sz="5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company.</a:t>
            </a:r>
            <a:endParaRPr lang="en-US" sz="5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EF7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automate the rest.</a:t>
            </a:r>
            <a:endParaRPr lang="en-US" sz="5000" dirty="0"/>
          </a:p>
        </p:txBody>
      </p:sp>
      <p:sp>
        <p:nvSpPr>
          <p:cNvPr id="5" name="Text 2"/>
          <p:cNvSpPr/>
          <p:nvPr/>
        </p:nvSpPr>
        <p:spPr>
          <a:xfrm>
            <a:off x="822960" y="457200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829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done-for-you menu of automations you can white-label and sell to solopreneurs and very small service providers — the people who answer their own phone between jobs.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3C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Solo-Operator Automation Menu</a:t>
            </a:r>
            <a:pPr indent="0" marL="0">
              <a:buNone/>
            </a:pPr>
            <a:r>
              <a:rPr lang="en-US" sz="1200" dirty="0">
                <a:solidFill>
                  <a:srgbClr val="5E6F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13 services  ·  3 packages  ·  live in ~1 week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EF7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BUYER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one-person business that</a:t>
            </a:r>
            <a:endParaRPr lang="en-US" sz="3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can't afford to miss a thing.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22860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C3C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plumbers, electricians &amp; cleaners. Mobile groomers, detailers, lawn crews of one. Therapists, trainers, tutors, coaches, freelancers. They ARE the receptionist, the marketer, the bookkeeper and the technician — all at once. When they're working, the business stops answering.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3611880"/>
            <a:ext cx="3419856" cy="2240280"/>
          </a:xfrm>
          <a:prstGeom prst="roundRect">
            <a:avLst>
              <a:gd name="adj" fmla="val 3673"/>
            </a:avLst>
          </a:prstGeom>
          <a:solidFill>
            <a:srgbClr val="15223A"/>
          </a:solidFill>
          <a:ln w="12700">
            <a:solidFill>
              <a:srgbClr val="2A3C5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3931920"/>
            <a:ext cx="28712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EF7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960120" y="5029200"/>
            <a:ext cx="28712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3C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calls to small service businesses go unanswered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34840" y="3611880"/>
            <a:ext cx="3419856" cy="2240280"/>
          </a:xfrm>
          <a:prstGeom prst="roundRect">
            <a:avLst>
              <a:gd name="adj" fmla="val 3673"/>
            </a:avLst>
          </a:prstGeom>
          <a:solidFill>
            <a:srgbClr val="15223A"/>
          </a:solidFill>
          <a:ln w="12700">
            <a:solidFill>
              <a:srgbClr val="2A3C5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9160" y="3931920"/>
            <a:ext cx="28712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2DD4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5800" dirty="0"/>
          </a:p>
        </p:txBody>
      </p:sp>
      <p:sp>
        <p:nvSpPr>
          <p:cNvPr id="10" name="Text 8"/>
          <p:cNvSpPr/>
          <p:nvPr/>
        </p:nvSpPr>
        <p:spPr>
          <a:xfrm>
            <a:off x="4709160" y="5029200"/>
            <a:ext cx="28712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3C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customers hire whoever responds first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83880" y="3611880"/>
            <a:ext cx="3419856" cy="2240280"/>
          </a:xfrm>
          <a:prstGeom prst="roundRect">
            <a:avLst>
              <a:gd name="adj" fmla="val 3673"/>
            </a:avLst>
          </a:prstGeom>
          <a:solidFill>
            <a:srgbClr val="15223A"/>
          </a:solidFill>
          <a:ln w="12700">
            <a:solidFill>
              <a:srgbClr val="2A3C5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58200" y="3931920"/>
            <a:ext cx="28712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F5B7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5800" dirty="0"/>
          </a:p>
        </p:txBody>
      </p:sp>
      <p:sp>
        <p:nvSpPr>
          <p:cNvPr id="13" name="Text 11"/>
          <p:cNvSpPr/>
          <p:nvPr/>
        </p:nvSpPr>
        <p:spPr>
          <a:xfrm>
            <a:off x="8458200" y="5029200"/>
            <a:ext cx="28712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3C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voicemail callers never call back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E6F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YOUR AGENCY ]</a:t>
            </a:r>
            <a:pPr indent="0" marL="0">
              <a:buNone/>
            </a:pPr>
            <a:r>
              <a:rPr lang="en-US" sz="950" dirty="0">
                <a:solidFill>
                  <a:srgbClr val="5E6F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Automation, resold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0500055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E6F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9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EF7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PITCH IN ONE SENTENCE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leaks. Every solo business has all five.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6002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29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don't sell "automation." You sell back the jobs leaking out the bottom of the bucket. Each service on the next pages plugs one of these.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331720"/>
            <a:ext cx="5312664" cy="1207008"/>
          </a:xfrm>
          <a:prstGeom prst="roundRect">
            <a:avLst>
              <a:gd name="adj" fmla="val 6818"/>
            </a:avLst>
          </a:prstGeom>
          <a:solidFill>
            <a:srgbClr val="15223A"/>
          </a:solidFill>
          <a:ln w="12700">
            <a:solidFill>
              <a:srgbClr val="2A3C5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642616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532888"/>
            <a:ext cx="4215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 calls = lost jobs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554480" y="2880360"/>
            <a:ext cx="4215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29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They're under a sink or mid-session. The phone rings out. That lead just hired the next name on the list.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327648" y="2331720"/>
            <a:ext cx="5312664" cy="1207008"/>
          </a:xfrm>
          <a:prstGeom prst="roundRect">
            <a:avLst>
              <a:gd name="adj" fmla="val 6818"/>
            </a:avLst>
          </a:prstGeom>
          <a:solidFill>
            <a:srgbClr val="15223A"/>
          </a:solidFill>
          <a:ln w="12700">
            <a:solidFill>
              <a:srgbClr val="2A3C5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642616"/>
            <a:ext cx="420624" cy="4206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96328" y="2532888"/>
            <a:ext cx="4215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to respond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7196328" y="2880360"/>
            <a:ext cx="4215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29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business to reply wins. A reply 5 minutes later instead of 5 hours later is the whole game.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85800" y="3776472"/>
            <a:ext cx="5312664" cy="1207008"/>
          </a:xfrm>
          <a:prstGeom prst="roundRect">
            <a:avLst>
              <a:gd name="adj" fmla="val 6818"/>
            </a:avLst>
          </a:prstGeom>
          <a:solidFill>
            <a:srgbClr val="15223A"/>
          </a:solidFill>
          <a:ln w="12700">
            <a:solidFill>
              <a:srgbClr val="2A3C5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4087368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54480" y="3977640"/>
            <a:ext cx="4215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Buried in "how much / when / where"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1554480" y="4325112"/>
            <a:ext cx="4215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29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a week answering the same three questions instead of doing billable work.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327648" y="3776472"/>
            <a:ext cx="5312664" cy="1207008"/>
          </a:xfrm>
          <a:prstGeom prst="roundRect">
            <a:avLst>
              <a:gd name="adj" fmla="val 6818"/>
            </a:avLst>
          </a:prstGeom>
          <a:solidFill>
            <a:srgbClr val="15223A"/>
          </a:solidFill>
          <a:ln w="12700">
            <a:solidFill>
              <a:srgbClr val="2A3C5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4087368"/>
            <a:ext cx="420624" cy="42062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196328" y="3977640"/>
            <a:ext cx="4215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No-shows &amp; empty slots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7196328" y="4325112"/>
            <a:ext cx="4215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29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Forgotten appointments and last-minute cancellations they never backfill.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685800" y="5221224"/>
            <a:ext cx="5312664" cy="1207008"/>
          </a:xfrm>
          <a:prstGeom prst="roundRect">
            <a:avLst>
              <a:gd name="adj" fmla="val 6818"/>
            </a:avLst>
          </a:prstGeom>
          <a:solidFill>
            <a:srgbClr val="15223A"/>
          </a:solidFill>
          <a:ln w="12700">
            <a:solidFill>
              <a:srgbClr val="2A3C5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" y="5532120"/>
            <a:ext cx="420624" cy="42062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554480" y="5422392"/>
            <a:ext cx="4215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Invisible online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1554480" y="5769864"/>
            <a:ext cx="4215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29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 reviews, no follow-up, no referrals. The best customers buy once and vanish.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E6F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YOUR AGENCY ]</a:t>
            </a:r>
            <a:pPr indent="0" marL="0">
              <a:buNone/>
            </a:pPr>
            <a:r>
              <a:rPr lang="en-US" sz="950" dirty="0">
                <a:solidFill>
                  <a:srgbClr val="5E6F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Automation, resold</a:t>
            </a:r>
            <a:endParaRPr lang="en-US" sz="950" dirty="0"/>
          </a:p>
        </p:txBody>
      </p:sp>
      <p:sp>
        <p:nvSpPr>
          <p:cNvPr id="26" name="Text 19"/>
          <p:cNvSpPr/>
          <p:nvPr/>
        </p:nvSpPr>
        <p:spPr>
          <a:xfrm>
            <a:off x="10500055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E6F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9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EF7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MENU · 1 OF 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— never miss the lead.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62763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F7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  </a:t>
            </a:r>
            <a:pPr indent="0" marL="0">
              <a:buNone/>
            </a:pPr>
            <a:r>
              <a:rPr lang="en-US" sz="1300" dirty="0">
                <a:solidFill>
                  <a:srgbClr val="829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everything, in their name, around the clock.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2240280"/>
            <a:ext cx="3399434" cy="1874520"/>
          </a:xfrm>
          <a:prstGeom prst="roundRect">
            <a:avLst>
              <a:gd name="adj" fmla="val 4390"/>
            </a:avLst>
          </a:prstGeom>
          <a:solidFill>
            <a:srgbClr val="15223A"/>
          </a:solidFill>
          <a:ln w="12700">
            <a:solidFill>
              <a:srgbClr val="2A3C5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2478024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23544" y="3008376"/>
            <a:ext cx="29239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 AI receptionist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23544" y="3447288"/>
            <a:ext cx="292394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29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every call in their business name, qualifies it, and books it — nights, weekends, and while they're on the job.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96130" y="2240280"/>
            <a:ext cx="3399434" cy="1874520"/>
          </a:xfrm>
          <a:prstGeom prst="roundRect">
            <a:avLst>
              <a:gd name="adj" fmla="val 4390"/>
            </a:avLst>
          </a:prstGeom>
          <a:solidFill>
            <a:srgbClr val="15223A"/>
          </a:solidFill>
          <a:ln w="12700">
            <a:solidFill>
              <a:srgbClr val="2A3C5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3874" y="2478024"/>
            <a:ext cx="420624" cy="4206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33874" y="3008376"/>
            <a:ext cx="29239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Missed-call text-back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4633874" y="3447288"/>
            <a:ext cx="292394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29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instant a call slips through, it fires a friendly text so the lead never dials the next provider.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8106461" y="2240280"/>
            <a:ext cx="3399434" cy="1874520"/>
          </a:xfrm>
          <a:prstGeom prst="roundRect">
            <a:avLst>
              <a:gd name="adj" fmla="val 4390"/>
            </a:avLst>
          </a:prstGeom>
          <a:solidFill>
            <a:srgbClr val="15223A"/>
          </a:solidFill>
          <a:ln w="12700">
            <a:solidFill>
              <a:srgbClr val="2A3C5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4205" y="2478024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344205" y="3008376"/>
            <a:ext cx="29239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Bilingual answering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8344205" y="3447288"/>
            <a:ext cx="292394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29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and books in the caller's language — they stop losing half their market to a language barrier.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685800" y="4389120"/>
            <a:ext cx="3399434" cy="1874520"/>
          </a:xfrm>
          <a:prstGeom prst="roundRect">
            <a:avLst>
              <a:gd name="adj" fmla="val 4390"/>
            </a:avLst>
          </a:prstGeom>
          <a:solidFill>
            <a:srgbClr val="15223A"/>
          </a:solidFill>
          <a:ln w="12700">
            <a:solidFill>
              <a:srgbClr val="2A3C5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4626864"/>
            <a:ext cx="420624" cy="42062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23544" y="5157216"/>
            <a:ext cx="29239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booking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923544" y="5596128"/>
            <a:ext cx="292394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29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Drops the appointment straight on their calendar and texts them the name, address, and problem.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4396130" y="4389120"/>
            <a:ext cx="3399434" cy="1874520"/>
          </a:xfrm>
          <a:prstGeom prst="roundRect">
            <a:avLst>
              <a:gd name="adj" fmla="val 4390"/>
            </a:avLst>
          </a:prstGeom>
          <a:solidFill>
            <a:srgbClr val="15223A"/>
          </a:solidFill>
          <a:ln w="12700">
            <a:solidFill>
              <a:srgbClr val="2A3C5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3874" y="4626864"/>
            <a:ext cx="420624" cy="42062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633874" y="5157216"/>
            <a:ext cx="29239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summaries to CRM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4633874" y="5596128"/>
            <a:ext cx="292394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29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call transcribed, tagged, and logged. They see what happened without replaying a recording.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8106461" y="4389120"/>
            <a:ext cx="3399434" cy="1874520"/>
          </a:xfrm>
          <a:prstGeom prst="roundRect">
            <a:avLst>
              <a:gd name="adj" fmla="val 4390"/>
            </a:avLst>
          </a:prstGeom>
          <a:solidFill>
            <a:srgbClr val="15223A"/>
          </a:solidFill>
          <a:ln w="12700">
            <a:solidFill>
              <a:srgbClr val="2A3C5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4205" y="4626864"/>
            <a:ext cx="420624" cy="42062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344205" y="5157216"/>
            <a:ext cx="29239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Branded landing page</a:t>
            </a:r>
            <a:endParaRPr lang="en-US" sz="1450" dirty="0"/>
          </a:p>
        </p:txBody>
      </p:sp>
      <p:sp>
        <p:nvSpPr>
          <p:cNvPr id="28" name="Text 20"/>
          <p:cNvSpPr/>
          <p:nvPr/>
        </p:nvSpPr>
        <p:spPr>
          <a:xfrm>
            <a:off x="8344205" y="5596128"/>
            <a:ext cx="292394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29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clean, trade-tuned web page with the AI agent built in — their storefront, ready in a day.</a:t>
            </a:r>
            <a:endParaRPr lang="en-US" sz="1050" dirty="0"/>
          </a:p>
        </p:txBody>
      </p:sp>
      <p:sp>
        <p:nvSpPr>
          <p:cNvPr id="29" name="Text 21"/>
          <p:cNvSpPr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E6F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YOUR AGENCY ]</a:t>
            </a:r>
            <a:pPr indent="0" marL="0">
              <a:buNone/>
            </a:pPr>
            <a:r>
              <a:rPr lang="en-US" sz="950" dirty="0">
                <a:solidFill>
                  <a:srgbClr val="5E6F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Automation, resold</a:t>
            </a:r>
            <a:endParaRPr lang="en-US" sz="950" dirty="0"/>
          </a:p>
        </p:txBody>
      </p:sp>
      <p:sp>
        <p:nvSpPr>
          <p:cNvPr id="30" name="Text 22"/>
          <p:cNvSpPr/>
          <p:nvPr/>
        </p:nvSpPr>
        <p:spPr>
          <a:xfrm>
            <a:off x="10500055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E6F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9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EF7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MENU · 2 OF 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— turn calls into paid work.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62763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  </a:t>
            </a:r>
            <a:pPr indent="0" marL="0">
              <a:buNone/>
            </a:pPr>
            <a:r>
              <a:rPr lang="en-US" sz="1300" dirty="0">
                <a:solidFill>
                  <a:srgbClr val="829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"just looking" to deposit-in-hand without them lifting a finger.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2240280"/>
            <a:ext cx="5254600" cy="1874520"/>
          </a:xfrm>
          <a:prstGeom prst="roundRect">
            <a:avLst>
              <a:gd name="adj" fmla="val 4390"/>
            </a:avLst>
          </a:prstGeom>
          <a:solidFill>
            <a:srgbClr val="15223A"/>
          </a:solidFill>
          <a:ln w="12700">
            <a:solidFill>
              <a:srgbClr val="2A3C5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2478024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23544" y="3008376"/>
            <a:ext cx="4779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 &amp; AI estimates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23544" y="3447288"/>
            <a:ext cx="4779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29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sends a photo or just an address; AI sizes the job so they quote fast and arrive with the right materials.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251296" y="2240280"/>
            <a:ext cx="5254600" cy="1874520"/>
          </a:xfrm>
          <a:prstGeom prst="roundRect">
            <a:avLst>
              <a:gd name="adj" fmla="val 4390"/>
            </a:avLst>
          </a:prstGeom>
          <a:solidFill>
            <a:srgbClr val="15223A"/>
          </a:solidFill>
          <a:ln w="12700">
            <a:solidFill>
              <a:srgbClr val="2A3C5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9040" y="2478024"/>
            <a:ext cx="420624" cy="4206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89040" y="3008376"/>
            <a:ext cx="4779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Quote-to-deposit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6489040" y="3447288"/>
            <a:ext cx="4779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29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Sends the quote and a payment link in one text and collects a deposit before the truck rolls.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85800" y="4389120"/>
            <a:ext cx="5254600" cy="1874520"/>
          </a:xfrm>
          <a:prstGeom prst="roundRect">
            <a:avLst>
              <a:gd name="adj" fmla="val 4390"/>
            </a:avLst>
          </a:prstGeom>
          <a:solidFill>
            <a:srgbClr val="15223A"/>
          </a:solidFill>
          <a:ln w="12700">
            <a:solidFill>
              <a:srgbClr val="2A3C5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4626864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23544" y="5157216"/>
            <a:ext cx="4779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Financing at the quote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923544" y="5596128"/>
            <a:ext cx="4779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29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big-ticket jobs it presents financing the moment they quote — so price stops killing the close.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6251296" y="4389120"/>
            <a:ext cx="5254600" cy="1874520"/>
          </a:xfrm>
          <a:prstGeom prst="roundRect">
            <a:avLst>
              <a:gd name="adj" fmla="val 4390"/>
            </a:avLst>
          </a:prstGeom>
          <a:solidFill>
            <a:srgbClr val="15223A"/>
          </a:solidFill>
          <a:ln w="12700">
            <a:solidFill>
              <a:srgbClr val="2A3C5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9040" y="4626864"/>
            <a:ext cx="420624" cy="42062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489040" y="5157216"/>
            <a:ext cx="4779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Reminders + backfill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6489040" y="5596128"/>
            <a:ext cx="4779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29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Confirms upcoming jobs and auto-offers cancelled slots to a waitlist. Fewer no-shows, no empty days.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E6F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YOUR AGENCY ]</a:t>
            </a:r>
            <a:pPr indent="0" marL="0">
              <a:buNone/>
            </a:pPr>
            <a:r>
              <a:rPr lang="en-US" sz="950" dirty="0">
                <a:solidFill>
                  <a:srgbClr val="5E6F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Automation, resold</a:t>
            </a:r>
            <a:endParaRPr lang="en-US" sz="950" dirty="0"/>
          </a:p>
        </p:txBody>
      </p:sp>
      <p:sp>
        <p:nvSpPr>
          <p:cNvPr id="22" name="Text 16"/>
          <p:cNvSpPr/>
          <p:nvPr/>
        </p:nvSpPr>
        <p:spPr>
          <a:xfrm>
            <a:off x="10500055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E6F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9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EF7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MENU · 3 OF 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 &amp; grow — squeeze every customer.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62763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B7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 &amp; GROW   </a:t>
            </a:r>
            <a:pPr indent="0" marL="0">
              <a:buNone/>
            </a:pPr>
            <a:r>
              <a:rPr lang="en-US" sz="1300" dirty="0">
                <a:solidFill>
                  <a:srgbClr val="829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cheapest revenue a solo business will ever make.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2240280"/>
            <a:ext cx="5254600" cy="1874520"/>
          </a:xfrm>
          <a:prstGeom prst="roundRect">
            <a:avLst>
              <a:gd name="adj" fmla="val 4390"/>
            </a:avLst>
          </a:prstGeom>
          <a:solidFill>
            <a:srgbClr val="15223A"/>
          </a:solidFill>
          <a:ln w="12700">
            <a:solidFill>
              <a:srgbClr val="2A3C5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2478024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23544" y="3008376"/>
            <a:ext cx="4779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&amp; reputation engine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23544" y="3447288"/>
            <a:ext cx="4779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29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Asks every happy customer for a Google review, routes unhappy ones privately first, and drafts the replies.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251296" y="2240280"/>
            <a:ext cx="5254600" cy="1874520"/>
          </a:xfrm>
          <a:prstGeom prst="roundRect">
            <a:avLst>
              <a:gd name="adj" fmla="val 4390"/>
            </a:avLst>
          </a:prstGeom>
          <a:solidFill>
            <a:srgbClr val="15223A"/>
          </a:solidFill>
          <a:ln w="12700">
            <a:solidFill>
              <a:srgbClr val="2A3C5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9040" y="2478024"/>
            <a:ext cx="420624" cy="4206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89040" y="3008376"/>
            <a:ext cx="4779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Win-back &amp; reactivation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6489040" y="3447288"/>
            <a:ext cx="4779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29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Quietly texts customers who haven't booked in months — "time for your tune-up" — and refills the calendar.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85800" y="4389120"/>
            <a:ext cx="5254600" cy="1874520"/>
          </a:xfrm>
          <a:prstGeom prst="roundRect">
            <a:avLst>
              <a:gd name="adj" fmla="val 4390"/>
            </a:avLst>
          </a:prstGeom>
          <a:solidFill>
            <a:srgbClr val="15223A"/>
          </a:solidFill>
          <a:ln w="12700">
            <a:solidFill>
              <a:srgbClr val="2A3C5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4626864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23544" y="5157216"/>
            <a:ext cx="4779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Referrals &amp; memberships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923544" y="5596128"/>
            <a:ext cx="4779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29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a 5-star review it asks for a referral and enrolls customers in recurring maintenance plans.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6251296" y="4389120"/>
            <a:ext cx="5254600" cy="1874520"/>
          </a:xfrm>
          <a:prstGeom prst="roundRect">
            <a:avLst>
              <a:gd name="adj" fmla="val 4390"/>
            </a:avLst>
          </a:prstGeom>
          <a:solidFill>
            <a:srgbClr val="15223A"/>
          </a:solidFill>
          <a:ln w="12700">
            <a:solidFill>
              <a:srgbClr val="2A3C5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9040" y="4626864"/>
            <a:ext cx="420624" cy="42062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489040" y="5157216"/>
            <a:ext cx="4779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 &amp; seasonal campaigns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6489040" y="5596128"/>
            <a:ext cx="4779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29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 wave fires tune-up offers; freeze fires pipe-protection; storm fires inspections. The forecast becomes their marketing calendar.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E6F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YOUR AGENCY ]</a:t>
            </a:r>
            <a:pPr indent="0" marL="0">
              <a:buNone/>
            </a:pPr>
            <a:r>
              <a:rPr lang="en-US" sz="950" dirty="0">
                <a:solidFill>
                  <a:srgbClr val="5E6F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Automation, resold</a:t>
            </a:r>
            <a:endParaRPr lang="en-US" sz="950" dirty="0"/>
          </a:p>
        </p:txBody>
      </p:sp>
      <p:sp>
        <p:nvSpPr>
          <p:cNvPr id="22" name="Text 16"/>
          <p:cNvSpPr/>
          <p:nvPr/>
        </p:nvSpPr>
        <p:spPr>
          <a:xfrm>
            <a:off x="10500055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E6F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9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EF7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YOU SELL IT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four-step close.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62763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29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technical pitch. You show them their own leaking money, then make the automation feel real in the room.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514600"/>
            <a:ext cx="2615184" cy="3108960"/>
          </a:xfrm>
          <a:prstGeom prst="roundRect">
            <a:avLst>
              <a:gd name="adj" fmla="val 3147"/>
            </a:avLst>
          </a:prstGeom>
          <a:solidFill>
            <a:srgbClr val="15223A"/>
          </a:solidFill>
          <a:ln w="12700">
            <a:solidFill>
              <a:srgbClr val="2A3C5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78408" y="2825496"/>
            <a:ext cx="603504" cy="603504"/>
          </a:xfrm>
          <a:prstGeom prst="roundRect">
            <a:avLst>
              <a:gd name="adj" fmla="val 18182"/>
            </a:avLst>
          </a:prstGeom>
          <a:solidFill>
            <a:srgbClr val="EF7A2E"/>
          </a:solidFill>
          <a:ln/>
        </p:spPr>
      </p:sp>
      <p:sp>
        <p:nvSpPr>
          <p:cNvPr id="7" name="Text 5"/>
          <p:cNvSpPr/>
          <p:nvPr/>
        </p:nvSpPr>
        <p:spPr>
          <a:xfrm>
            <a:off x="978408" y="282549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0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978408" y="3630168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their trade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78408" y="4297680"/>
            <a:ext cx="20299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829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demo, click their service. Instant, tailored pitch — no prep.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02736" y="2514600"/>
            <a:ext cx="2615184" cy="3108960"/>
          </a:xfrm>
          <a:prstGeom prst="roundRect">
            <a:avLst>
              <a:gd name="adj" fmla="val 3147"/>
            </a:avLst>
          </a:prstGeom>
          <a:solidFill>
            <a:srgbClr val="15223A"/>
          </a:solidFill>
          <a:ln w="12700">
            <a:solidFill>
              <a:srgbClr val="2A3C5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95344" y="2825496"/>
            <a:ext cx="603504" cy="603504"/>
          </a:xfrm>
          <a:prstGeom prst="roundRect">
            <a:avLst>
              <a:gd name="adj" fmla="val 18182"/>
            </a:avLst>
          </a:prstGeom>
          <a:solidFill>
            <a:srgbClr val="EF7A2E"/>
          </a:solidFill>
          <a:ln/>
        </p:spPr>
      </p:sp>
      <p:sp>
        <p:nvSpPr>
          <p:cNvPr id="12" name="Text 10"/>
          <p:cNvSpPr/>
          <p:nvPr/>
        </p:nvSpPr>
        <p:spPr>
          <a:xfrm>
            <a:off x="3895344" y="282549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0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895344" y="3630168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calculator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895344" y="4297680"/>
            <a:ext cx="20299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829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 the sliders to their real numbers. The dollar figure does the selling.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519672" y="2514600"/>
            <a:ext cx="2615184" cy="3108960"/>
          </a:xfrm>
          <a:prstGeom prst="roundRect">
            <a:avLst>
              <a:gd name="adj" fmla="val 3147"/>
            </a:avLst>
          </a:prstGeom>
          <a:solidFill>
            <a:srgbClr val="15223A"/>
          </a:solidFill>
          <a:ln w="12700">
            <a:solidFill>
              <a:srgbClr val="2A3C5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812280" y="2825496"/>
            <a:ext cx="603504" cy="603504"/>
          </a:xfrm>
          <a:prstGeom prst="roundRect">
            <a:avLst>
              <a:gd name="adj" fmla="val 18182"/>
            </a:avLst>
          </a:prstGeom>
          <a:solidFill>
            <a:srgbClr val="EF7A2E"/>
          </a:solidFill>
          <a:ln/>
        </p:spPr>
      </p:sp>
      <p:sp>
        <p:nvSpPr>
          <p:cNvPr id="17" name="Text 15"/>
          <p:cNvSpPr/>
          <p:nvPr/>
        </p:nvSpPr>
        <p:spPr>
          <a:xfrm>
            <a:off x="6812280" y="282549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0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812280" y="3630168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it real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12280" y="4297680"/>
            <a:ext cx="20299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829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a live "missed-call text-back" to their actual phone. That move closes.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436608" y="2514600"/>
            <a:ext cx="2615184" cy="3108960"/>
          </a:xfrm>
          <a:prstGeom prst="roundRect">
            <a:avLst>
              <a:gd name="adj" fmla="val 3147"/>
            </a:avLst>
          </a:prstGeom>
          <a:solidFill>
            <a:srgbClr val="15223A"/>
          </a:solidFill>
          <a:ln w="12700">
            <a:solidFill>
              <a:srgbClr val="2A3C5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729216" y="2825496"/>
            <a:ext cx="603504" cy="603504"/>
          </a:xfrm>
          <a:prstGeom prst="roundRect">
            <a:avLst>
              <a:gd name="adj" fmla="val 18182"/>
            </a:avLst>
          </a:prstGeom>
          <a:solidFill>
            <a:srgbClr val="EF7A2E"/>
          </a:solidFill>
          <a:ln/>
        </p:spPr>
      </p:sp>
      <p:sp>
        <p:nvSpPr>
          <p:cNvPr id="22" name="Text 20"/>
          <p:cNvSpPr/>
          <p:nvPr/>
        </p:nvSpPr>
        <p:spPr>
          <a:xfrm>
            <a:off x="9729216" y="282549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0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9729216" y="3630168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live in ~1 week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729216" y="4297680"/>
            <a:ext cx="20299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829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services, pricing &amp; hours, test together, flip it on. You bill monthly.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E6F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YOUR AGENCY ]</a:t>
            </a:r>
            <a:pPr indent="0" marL="0">
              <a:buNone/>
            </a:pPr>
            <a:r>
              <a:rPr lang="en-US" sz="950" dirty="0">
                <a:solidFill>
                  <a:srgbClr val="5E6F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Automation, resold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0500055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E6F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9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EF7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tiers. Pick a number, keep the margin.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3529584" cy="3611880"/>
          </a:xfrm>
          <a:prstGeom prst="roundRect">
            <a:avLst>
              <a:gd name="adj" fmla="val 2332"/>
            </a:avLst>
          </a:prstGeom>
          <a:solidFill>
            <a:srgbClr val="15223A"/>
          </a:solidFill>
          <a:ln w="12700">
            <a:solidFill>
              <a:srgbClr val="2A3C5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103120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829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960120" y="2432304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</a:t>
            </a:r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pPr indent="0" marL="0">
              <a:buNone/>
            </a:pPr>
            <a:r>
              <a:rPr lang="en-US" sz="1300" dirty="0">
                <a:solidFill>
                  <a:srgbClr val="829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/mo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2907792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E6F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set retail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60120" y="3163824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3C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owner who just needs the phone answered.</a:t>
            </a:r>
            <a:endParaRPr lang="en-US" sz="11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739896"/>
            <a:ext cx="146304" cy="1463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97864" y="3666744"/>
            <a:ext cx="276148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3C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 AI receptionist</a:t>
            </a:r>
            <a:endParaRPr lang="en-US" sz="11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4139946"/>
            <a:ext cx="146304" cy="14630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97864" y="4066794"/>
            <a:ext cx="276148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3C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Missed-call text-back</a:t>
            </a:r>
            <a:endParaRPr lang="en-US" sz="11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539996"/>
            <a:ext cx="146304" cy="14630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97864" y="4466844"/>
            <a:ext cx="276148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3C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booking</a:t>
            </a:r>
            <a:endParaRPr lang="en-US" sz="11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940046"/>
            <a:ext cx="146304" cy="14630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97864" y="4866894"/>
            <a:ext cx="276148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3C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summaries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4544568" y="1828800"/>
            <a:ext cx="3529584" cy="3611880"/>
          </a:xfrm>
          <a:prstGeom prst="roundRect">
            <a:avLst>
              <a:gd name="adj" fmla="val 2332"/>
            </a:avLst>
          </a:prstGeom>
          <a:solidFill>
            <a:srgbClr val="2C2114"/>
          </a:solidFill>
          <a:ln w="28575">
            <a:solidFill>
              <a:srgbClr val="EF7A2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6291072" y="1673352"/>
            <a:ext cx="1554480" cy="310896"/>
          </a:xfrm>
          <a:prstGeom prst="roundRect">
            <a:avLst>
              <a:gd name="adj" fmla="val 14706"/>
            </a:avLst>
          </a:prstGeom>
          <a:solidFill>
            <a:srgbClr val="EF7A2E"/>
          </a:solidFill>
          <a:ln/>
        </p:spPr>
      </p:sp>
      <p:sp>
        <p:nvSpPr>
          <p:cNvPr id="19" name="Text 13"/>
          <p:cNvSpPr/>
          <p:nvPr/>
        </p:nvSpPr>
        <p:spPr>
          <a:xfrm>
            <a:off x="6291072" y="167335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1A0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POPULAR</a:t>
            </a:r>
            <a:endParaRPr lang="en-US" sz="950" dirty="0"/>
          </a:p>
        </p:txBody>
      </p:sp>
      <p:sp>
        <p:nvSpPr>
          <p:cNvPr id="20" name="Text 14"/>
          <p:cNvSpPr/>
          <p:nvPr/>
        </p:nvSpPr>
        <p:spPr>
          <a:xfrm>
            <a:off x="4818888" y="2103120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F7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4818888" y="2432304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</a:t>
            </a:r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pPr indent="0" marL="0">
              <a:buNone/>
            </a:pPr>
            <a:r>
              <a:rPr lang="en-US" sz="1300" dirty="0">
                <a:solidFill>
                  <a:srgbClr val="829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/mo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4818888" y="2907792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E6F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set retail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4818888" y="3163824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3C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solo pro ready to fill the calendar.</a:t>
            </a:r>
            <a:endParaRPr lang="en-US" sz="115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8888" y="3739896"/>
            <a:ext cx="146304" cy="14630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056632" y="3666744"/>
            <a:ext cx="2761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3C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in Starter</a:t>
            </a:r>
            <a:endParaRPr lang="en-US" sz="115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8888" y="4059936"/>
            <a:ext cx="146304" cy="14630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056632" y="3986784"/>
            <a:ext cx="2761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3C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Reminders + backfill</a:t>
            </a:r>
            <a:endParaRPr lang="en-US" sz="1150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8888" y="4379976"/>
            <a:ext cx="146304" cy="146304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056632" y="4306824"/>
            <a:ext cx="2761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3C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&amp; reputation engine</a:t>
            </a:r>
            <a:endParaRPr lang="en-US" sz="1150" dirty="0"/>
          </a:p>
        </p:txBody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18888" y="4700016"/>
            <a:ext cx="146304" cy="146304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5056632" y="4626864"/>
            <a:ext cx="2761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3C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 / AI estimates</a:t>
            </a:r>
            <a:endParaRPr lang="en-US" sz="1150" dirty="0"/>
          </a:p>
        </p:txBody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18888" y="5020056"/>
            <a:ext cx="146304" cy="146304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5056632" y="4946904"/>
            <a:ext cx="2761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3C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Branded landing page</a:t>
            </a:r>
            <a:endParaRPr lang="en-US" sz="1150" dirty="0"/>
          </a:p>
        </p:txBody>
      </p:sp>
      <p:sp>
        <p:nvSpPr>
          <p:cNvPr id="34" name="Shape 23"/>
          <p:cNvSpPr/>
          <p:nvPr/>
        </p:nvSpPr>
        <p:spPr>
          <a:xfrm>
            <a:off x="8403336" y="1828800"/>
            <a:ext cx="3529584" cy="3611880"/>
          </a:xfrm>
          <a:prstGeom prst="roundRect">
            <a:avLst>
              <a:gd name="adj" fmla="val 2332"/>
            </a:avLst>
          </a:prstGeom>
          <a:solidFill>
            <a:srgbClr val="15223A"/>
          </a:solidFill>
          <a:ln w="12700">
            <a:solidFill>
              <a:srgbClr val="2A3C5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35" name="Text 24"/>
          <p:cNvSpPr/>
          <p:nvPr/>
        </p:nvSpPr>
        <p:spPr>
          <a:xfrm>
            <a:off x="8677656" y="2103120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829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150" dirty="0"/>
          </a:p>
        </p:txBody>
      </p:sp>
      <p:sp>
        <p:nvSpPr>
          <p:cNvPr id="36" name="Text 25"/>
          <p:cNvSpPr/>
          <p:nvPr/>
        </p:nvSpPr>
        <p:spPr>
          <a:xfrm>
            <a:off x="8677656" y="2432304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</a:t>
            </a:r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pPr indent="0" marL="0">
              <a:buNone/>
            </a:pPr>
            <a:r>
              <a:rPr lang="en-US" sz="1300" dirty="0">
                <a:solidFill>
                  <a:srgbClr val="829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/mo</a:t>
            </a:r>
            <a:endParaRPr lang="en-US" sz="2200" dirty="0"/>
          </a:p>
        </p:txBody>
      </p:sp>
      <p:sp>
        <p:nvSpPr>
          <p:cNvPr id="37" name="Text 26"/>
          <p:cNvSpPr/>
          <p:nvPr/>
        </p:nvSpPr>
        <p:spPr>
          <a:xfrm>
            <a:off x="8677656" y="2907792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E6F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set retail</a:t>
            </a:r>
            <a:endParaRPr lang="en-US" sz="1050" dirty="0"/>
          </a:p>
        </p:txBody>
      </p:sp>
      <p:sp>
        <p:nvSpPr>
          <p:cNvPr id="38" name="Text 27"/>
          <p:cNvSpPr/>
          <p:nvPr/>
        </p:nvSpPr>
        <p:spPr>
          <a:xfrm>
            <a:off x="8677656" y="3163824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3C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operator treating it like a growth engine.</a:t>
            </a:r>
            <a:endParaRPr lang="en-US" sz="1150" dirty="0"/>
          </a:p>
        </p:txBody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7656" y="3739896"/>
            <a:ext cx="146304" cy="146304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8915400" y="3666744"/>
            <a:ext cx="2761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3C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in Growth</a:t>
            </a:r>
            <a:endParaRPr lang="en-US" sz="1150" dirty="0"/>
          </a:p>
        </p:txBody>
      </p:sp>
      <p:pic>
        <p:nvPicPr>
          <p:cNvPr id="4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77656" y="4059936"/>
            <a:ext cx="146304" cy="146304"/>
          </a:xfrm>
          <a:prstGeom prst="rect">
            <a:avLst/>
          </a:prstGeom>
        </p:spPr>
      </p:pic>
      <p:sp>
        <p:nvSpPr>
          <p:cNvPr id="42" name="Text 29"/>
          <p:cNvSpPr/>
          <p:nvPr/>
        </p:nvSpPr>
        <p:spPr>
          <a:xfrm>
            <a:off x="8915400" y="3986784"/>
            <a:ext cx="2761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3C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Quote-to-deposit + financing</a:t>
            </a:r>
            <a:endParaRPr lang="en-US" sz="1150" dirty="0"/>
          </a:p>
        </p:txBody>
      </p:sp>
      <p:pic>
        <p:nvPicPr>
          <p:cNvPr id="4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77656" y="4379976"/>
            <a:ext cx="146304" cy="146304"/>
          </a:xfrm>
          <a:prstGeom prst="rect">
            <a:avLst/>
          </a:prstGeom>
        </p:spPr>
      </p:pic>
      <p:sp>
        <p:nvSpPr>
          <p:cNvPr id="44" name="Text 30"/>
          <p:cNvSpPr/>
          <p:nvPr/>
        </p:nvSpPr>
        <p:spPr>
          <a:xfrm>
            <a:off x="8915400" y="4306824"/>
            <a:ext cx="2761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3C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Win-back &amp; referrals</a:t>
            </a:r>
            <a:endParaRPr lang="en-US" sz="1150" dirty="0"/>
          </a:p>
        </p:txBody>
      </p:sp>
      <p:pic>
        <p:nvPicPr>
          <p:cNvPr id="4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77656" y="4700016"/>
            <a:ext cx="146304" cy="146304"/>
          </a:xfrm>
          <a:prstGeom prst="rect">
            <a:avLst/>
          </a:prstGeom>
        </p:spPr>
      </p:pic>
      <p:sp>
        <p:nvSpPr>
          <p:cNvPr id="46" name="Text 31"/>
          <p:cNvSpPr/>
          <p:nvPr/>
        </p:nvSpPr>
        <p:spPr>
          <a:xfrm>
            <a:off x="8915400" y="4626864"/>
            <a:ext cx="2761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3C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Seasonal campaigns</a:t>
            </a:r>
            <a:endParaRPr lang="en-US" sz="1150" dirty="0"/>
          </a:p>
        </p:txBody>
      </p:sp>
      <p:pic>
        <p:nvPicPr>
          <p:cNvPr id="4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677656" y="5020056"/>
            <a:ext cx="146304" cy="146304"/>
          </a:xfrm>
          <a:prstGeom prst="rect">
            <a:avLst/>
          </a:prstGeom>
        </p:spPr>
      </p:pic>
      <p:sp>
        <p:nvSpPr>
          <p:cNvPr id="48" name="Text 32"/>
          <p:cNvSpPr/>
          <p:nvPr/>
        </p:nvSpPr>
        <p:spPr>
          <a:xfrm>
            <a:off x="8915400" y="4946904"/>
            <a:ext cx="2761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3C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Bilingual answering</a:t>
            </a:r>
            <a:endParaRPr lang="en-US" sz="1150" dirty="0"/>
          </a:p>
        </p:txBody>
      </p:sp>
      <p:sp>
        <p:nvSpPr>
          <p:cNvPr id="49" name="Text 33"/>
          <p:cNvSpPr/>
          <p:nvPr/>
        </p:nvSpPr>
        <p:spPr>
          <a:xfrm>
            <a:off x="685800" y="56692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F5B7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Prices are blank on purpose — [ YOUR AGENCY ] sets retail. The anchor that sells: one captured job a month usually covers the whole plan several times over, versus a $3,500/mo human receptionist who goes home at 5.</a:t>
            </a:r>
            <a:endParaRPr lang="en-US" sz="1100" dirty="0"/>
          </a:p>
        </p:txBody>
      </p:sp>
      <p:sp>
        <p:nvSpPr>
          <p:cNvPr id="50" name="Text 34"/>
          <p:cNvSpPr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E6F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YOUR AGENCY ]</a:t>
            </a:r>
            <a:pPr indent="0" marL="0">
              <a:buNone/>
            </a:pPr>
            <a:r>
              <a:rPr lang="en-US" sz="950" dirty="0">
                <a:solidFill>
                  <a:srgbClr val="5E6F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Automation, resold</a:t>
            </a:r>
            <a:endParaRPr lang="en-US" sz="950" dirty="0"/>
          </a:p>
        </p:txBody>
      </p:sp>
      <p:sp>
        <p:nvSpPr>
          <p:cNvPr id="51" name="Text 35"/>
          <p:cNvSpPr/>
          <p:nvPr/>
        </p:nvSpPr>
        <p:spPr>
          <a:xfrm>
            <a:off x="10500055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E6F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9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4255" y="685800"/>
            <a:ext cx="1417320" cy="1417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1554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Your name on the front. Our engine in the back.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49808" y="210312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letting the phone</a:t>
            </a:r>
            <a:endParaRPr lang="en-US" sz="5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EF7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them customers.</a:t>
            </a:r>
            <a:endParaRPr lang="en-US" sz="5000" dirty="0"/>
          </a:p>
        </p:txBody>
      </p:sp>
      <p:sp>
        <p:nvSpPr>
          <p:cNvPr id="5" name="Text 2"/>
          <p:cNvSpPr/>
          <p:nvPr/>
        </p:nvSpPr>
        <p:spPr>
          <a:xfrm>
            <a:off x="822960" y="411480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829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 any solo operator a front office that never sleeps — and keep the margin between what it costs you and what you charge.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22960" y="5257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3C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YOUR AGENCY ]</a:t>
            </a:r>
            <a:pPr indent="0" marL="0">
              <a:buNone/>
            </a:pPr>
            <a:r>
              <a:rPr lang="en-US" sz="1300" dirty="0">
                <a:solidFill>
                  <a:srgbClr val="5E6F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[ your phone ]        [ your email ]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5989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E6F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Stats are illustrative industry figures (missed-call &amp; speed-to-lead research). Set your own pricing. Regulated fields — legal, medical, financial — follow their own advertising &amp; privacy rules.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Solo-Operator Automation Menu</dc:title>
  <dc:subject>PptxGenJS Presentation</dc:subject>
  <dc:creator>[ YOUR AGENCY ]</dc:creator>
  <cp:lastModifiedBy>[ YOUR AGENCY ]</cp:lastModifiedBy>
  <cp:revision>1</cp:revision>
  <dcterms:created xsi:type="dcterms:W3CDTF">2026-06-29T17:41:37Z</dcterms:created>
  <dcterms:modified xsi:type="dcterms:W3CDTF">2026-06-29T17:41:37Z</dcterms:modified>
</cp:coreProperties>
</file>