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</p:sldIdLst>
  <p:notesMasterIdLst>
    <p:notesMasterId r:id="rId13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notesMaster" Target="notesMasters/notesMaster1.xml"/><Relationship Id="rId14" Type="http://schemas.openxmlformats.org/officeDocument/2006/relationships/presProps" Target="presProps.xml"/><Relationship Id="rId15" Type="http://schemas.openxmlformats.org/officeDocument/2006/relationships/viewProps" Target="viewProps.xml"/><Relationship Id="rId16" Type="http://schemas.openxmlformats.org/officeDocument/2006/relationships/theme" Target="theme/theme1.xml"/><Relationship Id="rId17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-1.png"/><Relationship Id="rId2" Type="http://schemas.openxmlformats.org/officeDocument/2006/relationships/image" Target="../media/image-3-2.png"/><Relationship Id="rId3" Type="http://schemas.openxmlformats.org/officeDocument/2006/relationships/image" Target="../media/image-3-3.png"/><Relationship Id="rId4" Type="http://schemas.openxmlformats.org/officeDocument/2006/relationships/image" Target="../media/image-3-4.png"/><Relationship Id="rId5" Type="http://schemas.openxmlformats.org/officeDocument/2006/relationships/image" Target="../media/image-3-5.png"/><Relationship Id="rId6" Type="http://schemas.openxmlformats.org/officeDocument/2006/relationships/slideLayout" Target="../slideLayouts/slideLayout1.xml"/><Relationship Id="rId7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6-1.png"/><Relationship Id="rId2" Type="http://schemas.openxmlformats.org/officeDocument/2006/relationships/image" Target="../media/image-6-2.png"/><Relationship Id="rId3" Type="http://schemas.openxmlformats.org/officeDocument/2006/relationships/image" Target="../media/image-6-3.png"/><Relationship Id="rId4" Type="http://schemas.openxmlformats.org/officeDocument/2006/relationships/image" Target="../media/image-6-4.png"/><Relationship Id="rId5" Type="http://schemas.openxmlformats.org/officeDocument/2006/relationships/image" Target="../media/image-6-5.png"/><Relationship Id="rId6" Type="http://schemas.openxmlformats.org/officeDocument/2006/relationships/image" Target="../media/image-6-6.png"/><Relationship Id="rId7" Type="http://schemas.openxmlformats.org/officeDocument/2006/relationships/slideLayout" Target="../slideLayouts/slideLayout1.xml"/><Relationship Id="rId8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0-1.png"/><Relationship Id="rId2" Type="http://schemas.openxmlformats.org/officeDocument/2006/relationships/image" Target="../media/image-10-2.png"/><Relationship Id="rId3" Type="http://schemas.openxmlformats.org/officeDocument/2006/relationships/image" Target="../media/image-10-3.png"/><Relationship Id="rId4" Type="http://schemas.openxmlformats.org/officeDocument/2006/relationships/slideLayout" Target="../slideLayouts/slideLayout1.xml"/><Relationship Id="rId5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1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B122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>
            <a:alphaModFix amt="75000"/>
          </a:blip>
          <a:stretch>
            <a:fillRect/>
          </a:stretch>
        </p:blipFill>
        <p:spPr>
          <a:xfrm>
            <a:off x="7635240" y="457200"/>
            <a:ext cx="1005840" cy="100584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548640" y="96012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300" kern="0" dirty="0">
                <a:solidFill>
                  <a:srgbClr val="F9731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FOR LOCAL SERVICE BUSINESSES</a:t>
            </a:r>
            <a:endParaRPr lang="en-US" sz="1200" dirty="0"/>
          </a:p>
        </p:txBody>
      </p:sp>
      <p:sp>
        <p:nvSpPr>
          <p:cNvPr id="4" name="Text 1"/>
          <p:cNvSpPr/>
          <p:nvPr/>
        </p:nvSpPr>
        <p:spPr>
          <a:xfrm>
            <a:off x="548640" y="1371600"/>
            <a:ext cx="804672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95000"/>
              </a:lnSpc>
              <a:buNone/>
            </a:pPr>
            <a:r>
              <a:rPr lang="en-US" sz="5200" b="1" dirty="0">
                <a:solidFill>
                  <a:srgbClr val="F8FAF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Your phone is </a:t>
            </a:r>
            <a:pPr indent="0" marL="0">
              <a:lnSpc>
                <a:spcPct val="95000"/>
              </a:lnSpc>
              <a:buNone/>
            </a:pPr>
            <a:r>
              <a:rPr lang="en-US" sz="5200" b="1" dirty="0">
                <a:solidFill>
                  <a:srgbClr val="F9731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costing</a:t>
            </a:r>
            <a:pPr indent="0" marL="0">
              <a:lnSpc>
                <a:spcPct val="95000"/>
              </a:lnSpc>
              <a:buNone/>
            </a:pPr>
            <a:r>
              <a:rPr lang="en-US" sz="5200" b="1" dirty="0">
                <a:solidFill>
                  <a:srgbClr val="F8FAF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you</a:t>
            </a:r>
            <a:endParaRPr lang="en-US" sz="5200" dirty="0"/>
          </a:p>
          <a:p>
            <a:pPr indent="0" marL="0">
              <a:lnSpc>
                <a:spcPct val="95000"/>
              </a:lnSpc>
              <a:buNone/>
            </a:pPr>
            <a:r>
              <a:rPr lang="en-US" sz="5200" b="1" dirty="0">
                <a:solidFill>
                  <a:srgbClr val="F8FAF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customers.</a:t>
            </a:r>
            <a:endParaRPr lang="en-US" sz="5200" dirty="0"/>
          </a:p>
        </p:txBody>
      </p:sp>
      <p:sp>
        <p:nvSpPr>
          <p:cNvPr id="5" name="Text 2"/>
          <p:cNvSpPr/>
          <p:nvPr/>
        </p:nvSpPr>
        <p:spPr>
          <a:xfrm>
            <a:off x="566928" y="3246120"/>
            <a:ext cx="77724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dirty="0">
                <a:solidFill>
                  <a:srgbClr val="9AA7C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Here's exactly how much. And how to stop it.</a:t>
            </a:r>
            <a:endParaRPr lang="en-US" sz="2000" dirty="0"/>
          </a:p>
        </p:txBody>
      </p:sp>
      <p:sp>
        <p:nvSpPr>
          <p:cNvPr id="6" name="Shape 3"/>
          <p:cNvSpPr/>
          <p:nvPr/>
        </p:nvSpPr>
        <p:spPr>
          <a:xfrm>
            <a:off x="566928" y="4160520"/>
            <a:ext cx="2926080" cy="0"/>
          </a:xfrm>
          <a:prstGeom prst="line">
            <a:avLst/>
          </a:prstGeom>
          <a:noFill/>
          <a:ln w="19050">
            <a:solidFill>
              <a:srgbClr val="1C284A"/>
            </a:solidFill>
            <a:prstDash val="solid"/>
          </a:ln>
        </p:spPr>
      </p:sp>
      <p:sp>
        <p:nvSpPr>
          <p:cNvPr id="7" name="Text 4"/>
          <p:cNvSpPr/>
          <p:nvPr/>
        </p:nvSpPr>
        <p:spPr>
          <a:xfrm>
            <a:off x="566928" y="4297680"/>
            <a:ext cx="7315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9AA7C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[Your Agency]    .    AI Front Desk for the Trades</a:t>
            </a:r>
            <a:endParaRPr lang="en-US" sz="13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0B122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5720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300" kern="0" dirty="0">
                <a:solidFill>
                  <a:srgbClr val="F9731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 PROBLEM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48640" y="749808"/>
            <a:ext cx="8229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F8FAF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When nobody answers, they don't wait.</a:t>
            </a:r>
            <a:endParaRPr lang="en-US" sz="3200" dirty="0"/>
          </a:p>
        </p:txBody>
      </p:sp>
      <p:sp>
        <p:nvSpPr>
          <p:cNvPr id="4" name="Text 2"/>
          <p:cNvSpPr/>
          <p:nvPr/>
        </p:nvSpPr>
        <p:spPr>
          <a:xfrm>
            <a:off x="548640" y="1371600"/>
            <a:ext cx="8229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rgbClr val="9AA7C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They call the next guy. Then they hire him.</a:t>
            </a:r>
            <a:endParaRPr lang="en-US" sz="1800" dirty="0"/>
          </a:p>
        </p:txBody>
      </p:sp>
      <p:sp>
        <p:nvSpPr>
          <p:cNvPr id="5" name="Shape 3"/>
          <p:cNvSpPr/>
          <p:nvPr/>
        </p:nvSpPr>
        <p:spPr>
          <a:xfrm>
            <a:off x="548640" y="2240280"/>
            <a:ext cx="2514600" cy="2286000"/>
          </a:xfrm>
          <a:prstGeom prst="roundRect">
            <a:avLst>
              <a:gd name="adj" fmla="val 4800"/>
            </a:avLst>
          </a:prstGeom>
          <a:solidFill>
            <a:srgbClr val="16213A"/>
          </a:solidFill>
          <a:ln/>
          <a:effectLst>
            <a:outerShdw sx="100000" sy="100000" kx="0" ky="0" algn="bl" rotWithShape="0" blurRad="114300" dist="38100" dir="5400000">
              <a:srgbClr val="000000">
                <a:alpha val="35000"/>
              </a:srgbClr>
            </a:outerShdw>
          </a:effectLst>
        </p:spPr>
      </p:sp>
      <p:sp>
        <p:nvSpPr>
          <p:cNvPr id="6" name="Text 4"/>
          <p:cNvSpPr/>
          <p:nvPr/>
        </p:nvSpPr>
        <p:spPr>
          <a:xfrm>
            <a:off x="548640" y="2514600"/>
            <a:ext cx="25146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5600" b="1" dirty="0">
                <a:solidFill>
                  <a:srgbClr val="22D3A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62%</a:t>
            </a:r>
            <a:endParaRPr lang="en-US" sz="5600" dirty="0"/>
          </a:p>
        </p:txBody>
      </p:sp>
      <p:sp>
        <p:nvSpPr>
          <p:cNvPr id="7" name="Text 5"/>
          <p:cNvSpPr/>
          <p:nvPr/>
        </p:nvSpPr>
        <p:spPr>
          <a:xfrm>
            <a:off x="777240" y="3520440"/>
            <a:ext cx="205740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50" dirty="0">
                <a:solidFill>
                  <a:srgbClr val="F8FAF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of calls to home-service businesses go unanswered</a:t>
            </a:r>
            <a:endParaRPr lang="en-US" sz="1350" dirty="0"/>
          </a:p>
        </p:txBody>
      </p:sp>
      <p:sp>
        <p:nvSpPr>
          <p:cNvPr id="8" name="Shape 6"/>
          <p:cNvSpPr/>
          <p:nvPr/>
        </p:nvSpPr>
        <p:spPr>
          <a:xfrm>
            <a:off x="3291840" y="2240280"/>
            <a:ext cx="2514600" cy="2286000"/>
          </a:xfrm>
          <a:prstGeom prst="roundRect">
            <a:avLst>
              <a:gd name="adj" fmla="val 4800"/>
            </a:avLst>
          </a:prstGeom>
          <a:solidFill>
            <a:srgbClr val="16213A"/>
          </a:solidFill>
          <a:ln/>
          <a:effectLst>
            <a:outerShdw sx="100000" sy="100000" kx="0" ky="0" algn="bl" rotWithShape="0" blurRad="114300" dist="38100" dir="5400000">
              <a:srgbClr val="000000">
                <a:alpha val="35000"/>
              </a:srgbClr>
            </a:outerShdw>
          </a:effectLst>
        </p:spPr>
      </p:sp>
      <p:sp>
        <p:nvSpPr>
          <p:cNvPr id="9" name="Text 7"/>
          <p:cNvSpPr/>
          <p:nvPr/>
        </p:nvSpPr>
        <p:spPr>
          <a:xfrm>
            <a:off x="3291840" y="2514600"/>
            <a:ext cx="25146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5600" b="1" dirty="0">
                <a:solidFill>
                  <a:srgbClr val="22D3A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85%</a:t>
            </a:r>
            <a:endParaRPr lang="en-US" sz="5600" dirty="0"/>
          </a:p>
        </p:txBody>
      </p:sp>
      <p:sp>
        <p:nvSpPr>
          <p:cNvPr id="10" name="Text 8"/>
          <p:cNvSpPr/>
          <p:nvPr/>
        </p:nvSpPr>
        <p:spPr>
          <a:xfrm>
            <a:off x="3520440" y="3520440"/>
            <a:ext cx="205740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50" dirty="0">
                <a:solidFill>
                  <a:srgbClr val="F8FAF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of voicemail callers never call back</a:t>
            </a:r>
            <a:endParaRPr lang="en-US" sz="1350" dirty="0"/>
          </a:p>
        </p:txBody>
      </p:sp>
      <p:sp>
        <p:nvSpPr>
          <p:cNvPr id="11" name="Shape 9"/>
          <p:cNvSpPr/>
          <p:nvPr/>
        </p:nvSpPr>
        <p:spPr>
          <a:xfrm>
            <a:off x="6035040" y="2240280"/>
            <a:ext cx="2514600" cy="2286000"/>
          </a:xfrm>
          <a:prstGeom prst="roundRect">
            <a:avLst>
              <a:gd name="adj" fmla="val 4800"/>
            </a:avLst>
          </a:prstGeom>
          <a:solidFill>
            <a:srgbClr val="16213A"/>
          </a:solidFill>
          <a:ln/>
          <a:effectLst>
            <a:outerShdw sx="100000" sy="100000" kx="0" ky="0" algn="bl" rotWithShape="0" blurRad="114300" dist="38100" dir="5400000">
              <a:srgbClr val="000000">
                <a:alpha val="35000"/>
              </a:srgbClr>
            </a:outerShdw>
          </a:effectLst>
        </p:spPr>
      </p:sp>
      <p:sp>
        <p:nvSpPr>
          <p:cNvPr id="12" name="Text 10"/>
          <p:cNvSpPr/>
          <p:nvPr/>
        </p:nvSpPr>
        <p:spPr>
          <a:xfrm>
            <a:off x="6035040" y="2514600"/>
            <a:ext cx="25146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5600" b="1" dirty="0">
                <a:solidFill>
                  <a:srgbClr val="F9731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78%</a:t>
            </a:r>
            <a:endParaRPr lang="en-US" sz="5600" dirty="0"/>
          </a:p>
        </p:txBody>
      </p:sp>
      <p:sp>
        <p:nvSpPr>
          <p:cNvPr id="13" name="Text 11"/>
          <p:cNvSpPr/>
          <p:nvPr/>
        </p:nvSpPr>
        <p:spPr>
          <a:xfrm>
            <a:off x="6263640" y="3520440"/>
            <a:ext cx="205740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50" dirty="0">
                <a:solidFill>
                  <a:srgbClr val="F8FAF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of customers buy from whoever answers first</a:t>
            </a:r>
            <a:endParaRPr lang="en-US" sz="135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0B122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1148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300" kern="0" dirty="0">
                <a:solidFill>
                  <a:srgbClr val="F9731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WHERE IT GOES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48640" y="704088"/>
            <a:ext cx="8229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F8FAF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Five places the money leaks out.</a:t>
            </a:r>
            <a:endParaRPr lang="en-US" sz="3200" dirty="0"/>
          </a:p>
        </p:txBody>
      </p:sp>
      <p:sp>
        <p:nvSpPr>
          <p:cNvPr id="4" name="Shape 2"/>
          <p:cNvSpPr/>
          <p:nvPr/>
        </p:nvSpPr>
        <p:spPr>
          <a:xfrm>
            <a:off x="640080" y="1481328"/>
            <a:ext cx="457200" cy="457200"/>
          </a:xfrm>
          <a:prstGeom prst="ellipse">
            <a:avLst/>
          </a:prstGeom>
          <a:solidFill>
            <a:srgbClr val="1C284A"/>
          </a:solidFill>
          <a:ln/>
        </p:spPr>
      </p:sp>
      <p:pic>
        <p:nvPicPr>
          <p:cNvPr id="5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40664" y="1581912"/>
            <a:ext cx="256032" cy="256032"/>
          </a:xfrm>
          <a:prstGeom prst="rect">
            <a:avLst/>
          </a:prstGeom>
        </p:spPr>
      </p:pic>
      <p:sp>
        <p:nvSpPr>
          <p:cNvPr id="6" name="Text 3"/>
          <p:cNvSpPr/>
          <p:nvPr/>
        </p:nvSpPr>
        <p:spPr>
          <a:xfrm>
            <a:off x="1280160" y="1463040"/>
            <a:ext cx="22860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F8FAF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Missed calls</a:t>
            </a:r>
            <a:endParaRPr lang="en-US" sz="1600" dirty="0"/>
          </a:p>
        </p:txBody>
      </p:sp>
      <p:sp>
        <p:nvSpPr>
          <p:cNvPr id="7" name="Text 4"/>
          <p:cNvSpPr/>
          <p:nvPr/>
        </p:nvSpPr>
        <p:spPr>
          <a:xfrm>
            <a:off x="3611880" y="1463040"/>
            <a:ext cx="5029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9AA7C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Every missed call is a job your competitor just won.</a:t>
            </a:r>
            <a:endParaRPr lang="en-US" sz="1400" dirty="0"/>
          </a:p>
        </p:txBody>
      </p:sp>
      <p:sp>
        <p:nvSpPr>
          <p:cNvPr id="8" name="Shape 5"/>
          <p:cNvSpPr/>
          <p:nvPr/>
        </p:nvSpPr>
        <p:spPr>
          <a:xfrm>
            <a:off x="640080" y="2157984"/>
            <a:ext cx="457200" cy="457200"/>
          </a:xfrm>
          <a:prstGeom prst="ellipse">
            <a:avLst/>
          </a:prstGeom>
          <a:solidFill>
            <a:srgbClr val="1C284A"/>
          </a:solidFill>
          <a:ln/>
        </p:spPr>
      </p:sp>
      <p:pic>
        <p:nvPicPr>
          <p:cNvPr id="9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40664" y="2258568"/>
            <a:ext cx="256032" cy="256032"/>
          </a:xfrm>
          <a:prstGeom prst="rect">
            <a:avLst/>
          </a:prstGeom>
        </p:spPr>
      </p:pic>
      <p:sp>
        <p:nvSpPr>
          <p:cNvPr id="10" name="Text 6"/>
          <p:cNvSpPr/>
          <p:nvPr/>
        </p:nvSpPr>
        <p:spPr>
          <a:xfrm>
            <a:off x="1280160" y="2139696"/>
            <a:ext cx="22860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F8FAF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Speed to lead</a:t>
            </a:r>
            <a:endParaRPr lang="en-US" sz="1600" dirty="0"/>
          </a:p>
        </p:txBody>
      </p:sp>
      <p:sp>
        <p:nvSpPr>
          <p:cNvPr id="11" name="Text 7"/>
          <p:cNvSpPr/>
          <p:nvPr/>
        </p:nvSpPr>
        <p:spPr>
          <a:xfrm>
            <a:off x="3611880" y="2139696"/>
            <a:ext cx="5029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9AA7C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Answer first or lose. The fastest callback wins the customer.</a:t>
            </a:r>
            <a:endParaRPr lang="en-US" sz="1400" dirty="0"/>
          </a:p>
        </p:txBody>
      </p:sp>
      <p:sp>
        <p:nvSpPr>
          <p:cNvPr id="12" name="Shape 8"/>
          <p:cNvSpPr/>
          <p:nvPr/>
        </p:nvSpPr>
        <p:spPr>
          <a:xfrm>
            <a:off x="640080" y="2834640"/>
            <a:ext cx="457200" cy="457200"/>
          </a:xfrm>
          <a:prstGeom prst="ellipse">
            <a:avLst/>
          </a:prstGeom>
          <a:solidFill>
            <a:srgbClr val="1C284A"/>
          </a:solidFill>
          <a:ln/>
        </p:spPr>
      </p:sp>
      <p:pic>
        <p:nvPicPr>
          <p:cNvPr id="13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40664" y="2935224"/>
            <a:ext cx="256032" cy="256032"/>
          </a:xfrm>
          <a:prstGeom prst="rect">
            <a:avLst/>
          </a:prstGeom>
        </p:spPr>
      </p:pic>
      <p:sp>
        <p:nvSpPr>
          <p:cNvPr id="14" name="Text 9"/>
          <p:cNvSpPr/>
          <p:nvPr/>
        </p:nvSpPr>
        <p:spPr>
          <a:xfrm>
            <a:off x="1280160" y="2816352"/>
            <a:ext cx="22860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F8FAF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Time drain</a:t>
            </a:r>
            <a:endParaRPr lang="en-US" sz="1600" dirty="0"/>
          </a:p>
        </p:txBody>
      </p:sp>
      <p:sp>
        <p:nvSpPr>
          <p:cNvPr id="15" name="Text 10"/>
          <p:cNvSpPr/>
          <p:nvPr/>
        </p:nvSpPr>
        <p:spPr>
          <a:xfrm>
            <a:off x="3611880" y="2816352"/>
            <a:ext cx="5029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9AA7C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Your best people answer 'how much' instead of doing the work.</a:t>
            </a:r>
            <a:endParaRPr lang="en-US" sz="1400" dirty="0"/>
          </a:p>
        </p:txBody>
      </p:sp>
      <p:sp>
        <p:nvSpPr>
          <p:cNvPr id="16" name="Shape 11"/>
          <p:cNvSpPr/>
          <p:nvPr/>
        </p:nvSpPr>
        <p:spPr>
          <a:xfrm>
            <a:off x="640080" y="3511296"/>
            <a:ext cx="457200" cy="457200"/>
          </a:xfrm>
          <a:prstGeom prst="ellipse">
            <a:avLst/>
          </a:prstGeom>
          <a:solidFill>
            <a:srgbClr val="1C284A"/>
          </a:solidFill>
          <a:ln/>
        </p:spPr>
      </p:sp>
      <p:pic>
        <p:nvPicPr>
          <p:cNvPr id="17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40664" y="3611880"/>
            <a:ext cx="256032" cy="256032"/>
          </a:xfrm>
          <a:prstGeom prst="rect">
            <a:avLst/>
          </a:prstGeom>
        </p:spPr>
      </p:pic>
      <p:sp>
        <p:nvSpPr>
          <p:cNvPr id="18" name="Text 12"/>
          <p:cNvSpPr/>
          <p:nvPr/>
        </p:nvSpPr>
        <p:spPr>
          <a:xfrm>
            <a:off x="1280160" y="3493008"/>
            <a:ext cx="22860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F8FAF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No-shows</a:t>
            </a:r>
            <a:endParaRPr lang="en-US" sz="1600" dirty="0"/>
          </a:p>
        </p:txBody>
      </p:sp>
      <p:sp>
        <p:nvSpPr>
          <p:cNvPr id="19" name="Text 13"/>
          <p:cNvSpPr/>
          <p:nvPr/>
        </p:nvSpPr>
        <p:spPr>
          <a:xfrm>
            <a:off x="3611880" y="3493008"/>
            <a:ext cx="5029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9AA7C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Empty slots burn fuel and pay nobody.</a:t>
            </a:r>
            <a:endParaRPr lang="en-US" sz="1400" dirty="0"/>
          </a:p>
        </p:txBody>
      </p:sp>
      <p:sp>
        <p:nvSpPr>
          <p:cNvPr id="20" name="Shape 14"/>
          <p:cNvSpPr/>
          <p:nvPr/>
        </p:nvSpPr>
        <p:spPr>
          <a:xfrm>
            <a:off x="640080" y="4187952"/>
            <a:ext cx="457200" cy="457200"/>
          </a:xfrm>
          <a:prstGeom prst="ellipse">
            <a:avLst/>
          </a:prstGeom>
          <a:solidFill>
            <a:srgbClr val="1C284A"/>
          </a:solidFill>
          <a:ln/>
        </p:spPr>
      </p:sp>
      <p:pic>
        <p:nvPicPr>
          <p:cNvPr id="21" name="Image 4" descr="preencod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740664" y="4288536"/>
            <a:ext cx="256032" cy="256032"/>
          </a:xfrm>
          <a:prstGeom prst="rect">
            <a:avLst/>
          </a:prstGeom>
        </p:spPr>
      </p:pic>
      <p:sp>
        <p:nvSpPr>
          <p:cNvPr id="22" name="Text 15"/>
          <p:cNvSpPr/>
          <p:nvPr/>
        </p:nvSpPr>
        <p:spPr>
          <a:xfrm>
            <a:off x="1280160" y="4169664"/>
            <a:ext cx="22860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F8FAF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No reviews</a:t>
            </a:r>
            <a:endParaRPr lang="en-US" sz="1600" dirty="0"/>
          </a:p>
        </p:txBody>
      </p:sp>
      <p:sp>
        <p:nvSpPr>
          <p:cNvPr id="23" name="Text 16"/>
          <p:cNvSpPr/>
          <p:nvPr/>
        </p:nvSpPr>
        <p:spPr>
          <a:xfrm>
            <a:off x="3611880" y="4169664"/>
            <a:ext cx="5029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9AA7C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No reviews means no ranking. No ranking means no calls.</a:t>
            </a:r>
            <a:endParaRPr lang="en-US" sz="14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0B122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5720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300" kern="0" dirty="0">
                <a:solidFill>
                  <a:srgbClr val="F9731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COST OF DOING NOTHING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48640" y="749808"/>
            <a:ext cx="54864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rgbClr val="F8FAF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Run the math.</a:t>
            </a:r>
            <a:endParaRPr lang="en-US" sz="3400" dirty="0"/>
          </a:p>
        </p:txBody>
      </p:sp>
      <p:sp>
        <p:nvSpPr>
          <p:cNvPr id="4" name="Text 2"/>
          <p:cNvSpPr/>
          <p:nvPr/>
        </p:nvSpPr>
        <p:spPr>
          <a:xfrm>
            <a:off x="548640" y="1737360"/>
            <a:ext cx="15544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3000" b="1" dirty="0">
                <a:solidFill>
                  <a:srgbClr val="22D3A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8</a:t>
            </a:r>
            <a:endParaRPr lang="en-US" sz="3000" dirty="0"/>
          </a:p>
        </p:txBody>
      </p:sp>
      <p:sp>
        <p:nvSpPr>
          <p:cNvPr id="5" name="Text 3"/>
          <p:cNvSpPr/>
          <p:nvPr/>
        </p:nvSpPr>
        <p:spPr>
          <a:xfrm>
            <a:off x="2240280" y="1810512"/>
            <a:ext cx="27432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F8FAF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missed calls a week</a:t>
            </a:r>
            <a:endParaRPr lang="en-US" sz="1600" dirty="0"/>
          </a:p>
        </p:txBody>
      </p:sp>
      <p:sp>
        <p:nvSpPr>
          <p:cNvPr id="6" name="Text 4"/>
          <p:cNvSpPr/>
          <p:nvPr/>
        </p:nvSpPr>
        <p:spPr>
          <a:xfrm>
            <a:off x="548640" y="2578608"/>
            <a:ext cx="15544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3000" b="1" dirty="0">
                <a:solidFill>
                  <a:srgbClr val="22D3A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$450</a:t>
            </a:r>
            <a:endParaRPr lang="en-US" sz="3000" dirty="0"/>
          </a:p>
        </p:txBody>
      </p:sp>
      <p:sp>
        <p:nvSpPr>
          <p:cNvPr id="7" name="Text 5"/>
          <p:cNvSpPr/>
          <p:nvPr/>
        </p:nvSpPr>
        <p:spPr>
          <a:xfrm>
            <a:off x="2240280" y="2651760"/>
            <a:ext cx="27432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F8FAF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average job value</a:t>
            </a:r>
            <a:endParaRPr lang="en-US" sz="1600" dirty="0"/>
          </a:p>
        </p:txBody>
      </p:sp>
      <p:sp>
        <p:nvSpPr>
          <p:cNvPr id="8" name="Text 6"/>
          <p:cNvSpPr/>
          <p:nvPr/>
        </p:nvSpPr>
        <p:spPr>
          <a:xfrm>
            <a:off x="548640" y="3419856"/>
            <a:ext cx="15544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3000" b="1" dirty="0">
                <a:solidFill>
                  <a:srgbClr val="22D3A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50%</a:t>
            </a:r>
            <a:endParaRPr lang="en-US" sz="3000" dirty="0"/>
          </a:p>
        </p:txBody>
      </p:sp>
      <p:sp>
        <p:nvSpPr>
          <p:cNvPr id="9" name="Text 7"/>
          <p:cNvSpPr/>
          <p:nvPr/>
        </p:nvSpPr>
        <p:spPr>
          <a:xfrm>
            <a:off x="2240280" y="3493008"/>
            <a:ext cx="27432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F8FAF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were real customers</a:t>
            </a:r>
            <a:endParaRPr lang="en-US" sz="1600" dirty="0"/>
          </a:p>
        </p:txBody>
      </p:sp>
      <p:sp>
        <p:nvSpPr>
          <p:cNvPr id="10" name="Shape 8"/>
          <p:cNvSpPr/>
          <p:nvPr/>
        </p:nvSpPr>
        <p:spPr>
          <a:xfrm>
            <a:off x="5486400" y="1600200"/>
            <a:ext cx="3200400" cy="2788920"/>
          </a:xfrm>
          <a:prstGeom prst="roundRect">
            <a:avLst>
              <a:gd name="adj" fmla="val 3934"/>
            </a:avLst>
          </a:prstGeom>
          <a:solidFill>
            <a:srgbClr val="16213A"/>
          </a:solidFill>
          <a:ln/>
          <a:effectLst>
            <a:outerShdw sx="100000" sy="100000" kx="0" ky="0" algn="bl" rotWithShape="0" blurRad="114300" dist="38100" dir="5400000">
              <a:srgbClr val="000000">
                <a:alpha val="35000"/>
              </a:srgbClr>
            </a:outerShdw>
          </a:effectLst>
        </p:spPr>
      </p:sp>
      <p:sp>
        <p:nvSpPr>
          <p:cNvPr id="11" name="Text 9"/>
          <p:cNvSpPr/>
          <p:nvPr/>
        </p:nvSpPr>
        <p:spPr>
          <a:xfrm>
            <a:off x="5486400" y="1828800"/>
            <a:ext cx="3200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spc="200" kern="0" dirty="0">
                <a:solidFill>
                  <a:srgbClr val="9AA7C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WALKING OUT THE DOOR</a:t>
            </a:r>
            <a:endParaRPr lang="en-US" sz="1100" dirty="0"/>
          </a:p>
        </p:txBody>
      </p:sp>
      <p:sp>
        <p:nvSpPr>
          <p:cNvPr id="12" name="Text 10"/>
          <p:cNvSpPr/>
          <p:nvPr/>
        </p:nvSpPr>
        <p:spPr>
          <a:xfrm>
            <a:off x="5486400" y="2148840"/>
            <a:ext cx="320040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5400" b="1" dirty="0">
                <a:solidFill>
                  <a:srgbClr val="FF6B6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$7,740</a:t>
            </a:r>
            <a:endParaRPr lang="en-US" sz="5400" dirty="0"/>
          </a:p>
        </p:txBody>
      </p:sp>
      <p:sp>
        <p:nvSpPr>
          <p:cNvPr id="13" name="Text 11"/>
          <p:cNvSpPr/>
          <p:nvPr/>
        </p:nvSpPr>
        <p:spPr>
          <a:xfrm>
            <a:off x="5486400" y="2999232"/>
            <a:ext cx="3200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dirty="0">
                <a:solidFill>
                  <a:srgbClr val="F8FAF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every month</a:t>
            </a:r>
            <a:endParaRPr lang="en-US" sz="1500" dirty="0"/>
          </a:p>
        </p:txBody>
      </p:sp>
      <p:sp>
        <p:nvSpPr>
          <p:cNvPr id="14" name="Text 12"/>
          <p:cNvSpPr/>
          <p:nvPr/>
        </p:nvSpPr>
        <p:spPr>
          <a:xfrm>
            <a:off x="5486400" y="3611880"/>
            <a:ext cx="32004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F59E0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$92,880</a:t>
            </a:r>
            <a:pPr algn="ctr" indent="0" marL="0">
              <a:buNone/>
            </a:pPr>
            <a:r>
              <a:rPr lang="en-US" sz="2400" dirty="0">
                <a:solidFill>
                  <a:srgbClr val="F8FAF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a year</a:t>
            </a:r>
            <a:endParaRPr lang="en-US" sz="2400" dirty="0"/>
          </a:p>
        </p:txBody>
      </p:sp>
      <p:sp>
        <p:nvSpPr>
          <p:cNvPr id="15" name="Text 13"/>
          <p:cNvSpPr/>
          <p:nvPr/>
        </p:nvSpPr>
        <p:spPr>
          <a:xfrm>
            <a:off x="548640" y="4572000"/>
            <a:ext cx="8229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i="1" dirty="0">
                <a:solidFill>
                  <a:srgbClr val="9AA7C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Conservative. Plug in your real numbers and it gets worse.</a:t>
            </a:r>
            <a:endParaRPr lang="en-US" sz="13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0B122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5720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300" kern="0" dirty="0">
                <a:solidFill>
                  <a:srgbClr val="F9731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 FIX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48640" y="749808"/>
            <a:ext cx="8229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F8FAF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One fix. A 24/7 AI receptionist.</a:t>
            </a:r>
            <a:endParaRPr lang="en-US" sz="3200" dirty="0"/>
          </a:p>
        </p:txBody>
      </p:sp>
      <p:sp>
        <p:nvSpPr>
          <p:cNvPr id="4" name="Text 2"/>
          <p:cNvSpPr/>
          <p:nvPr/>
        </p:nvSpPr>
        <p:spPr>
          <a:xfrm>
            <a:off x="548640" y="1371600"/>
            <a:ext cx="8229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dirty="0">
                <a:solidFill>
                  <a:srgbClr val="9AA7C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It answers every call in your name. It never sleeps, never quits, never misses one.</a:t>
            </a:r>
            <a:endParaRPr lang="en-US" sz="1700" dirty="0"/>
          </a:p>
        </p:txBody>
      </p:sp>
      <p:sp>
        <p:nvSpPr>
          <p:cNvPr id="5" name="Shape 3"/>
          <p:cNvSpPr/>
          <p:nvPr/>
        </p:nvSpPr>
        <p:spPr>
          <a:xfrm>
            <a:off x="548640" y="2194560"/>
            <a:ext cx="2514600" cy="2377440"/>
          </a:xfrm>
          <a:prstGeom prst="roundRect">
            <a:avLst>
              <a:gd name="adj" fmla="val 4615"/>
            </a:avLst>
          </a:prstGeom>
          <a:solidFill>
            <a:srgbClr val="16213A"/>
          </a:solidFill>
          <a:ln/>
          <a:effectLst>
            <a:outerShdw sx="100000" sy="100000" kx="0" ky="0" algn="bl" rotWithShape="0" blurRad="114300" dist="38100" dir="5400000">
              <a:srgbClr val="000000">
                <a:alpha val="35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804672" y="2450592"/>
            <a:ext cx="640080" cy="640080"/>
          </a:xfrm>
          <a:prstGeom prst="ellipse">
            <a:avLst/>
          </a:prstGeom>
          <a:solidFill>
            <a:srgbClr val="F97316"/>
          </a:solidFill>
          <a:ln/>
        </p:spPr>
      </p:sp>
      <p:sp>
        <p:nvSpPr>
          <p:cNvPr id="7" name="Text 5"/>
          <p:cNvSpPr/>
          <p:nvPr/>
        </p:nvSpPr>
        <p:spPr>
          <a:xfrm>
            <a:off x="804672" y="2450592"/>
            <a:ext cx="6400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600" b="1" dirty="0">
                <a:solidFill>
                  <a:srgbClr val="0B122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</a:t>
            </a:r>
            <a:endParaRPr lang="en-US" sz="2600" dirty="0"/>
          </a:p>
        </p:txBody>
      </p:sp>
      <p:sp>
        <p:nvSpPr>
          <p:cNvPr id="8" name="Text 6"/>
          <p:cNvSpPr/>
          <p:nvPr/>
        </p:nvSpPr>
        <p:spPr>
          <a:xfrm>
            <a:off x="777240" y="3246120"/>
            <a:ext cx="21031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F8FAF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Answers instantly</a:t>
            </a:r>
            <a:endParaRPr lang="en-US" sz="1700" dirty="0"/>
          </a:p>
        </p:txBody>
      </p:sp>
      <p:sp>
        <p:nvSpPr>
          <p:cNvPr id="9" name="Text 7"/>
          <p:cNvSpPr/>
          <p:nvPr/>
        </p:nvSpPr>
        <p:spPr>
          <a:xfrm>
            <a:off x="777240" y="3611880"/>
            <a:ext cx="210312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9AA7C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On the first ring, day or night. A friendly voice, never a beep.</a:t>
            </a:r>
            <a:endParaRPr lang="en-US" sz="1300" dirty="0"/>
          </a:p>
        </p:txBody>
      </p:sp>
      <p:sp>
        <p:nvSpPr>
          <p:cNvPr id="10" name="Shape 8"/>
          <p:cNvSpPr/>
          <p:nvPr/>
        </p:nvSpPr>
        <p:spPr>
          <a:xfrm>
            <a:off x="3291840" y="2194560"/>
            <a:ext cx="2514600" cy="2377440"/>
          </a:xfrm>
          <a:prstGeom prst="roundRect">
            <a:avLst>
              <a:gd name="adj" fmla="val 4615"/>
            </a:avLst>
          </a:prstGeom>
          <a:solidFill>
            <a:srgbClr val="16213A"/>
          </a:solidFill>
          <a:ln/>
          <a:effectLst>
            <a:outerShdw sx="100000" sy="100000" kx="0" ky="0" algn="bl" rotWithShape="0" blurRad="114300" dist="38100" dir="5400000">
              <a:srgbClr val="000000">
                <a:alpha val="35000"/>
              </a:srgbClr>
            </a:outerShdw>
          </a:effectLst>
        </p:spPr>
      </p:sp>
      <p:sp>
        <p:nvSpPr>
          <p:cNvPr id="11" name="Shape 9"/>
          <p:cNvSpPr/>
          <p:nvPr/>
        </p:nvSpPr>
        <p:spPr>
          <a:xfrm>
            <a:off x="3547872" y="2450592"/>
            <a:ext cx="640080" cy="640080"/>
          </a:xfrm>
          <a:prstGeom prst="ellipse">
            <a:avLst/>
          </a:prstGeom>
          <a:solidFill>
            <a:srgbClr val="F97316"/>
          </a:solidFill>
          <a:ln/>
        </p:spPr>
      </p:sp>
      <p:sp>
        <p:nvSpPr>
          <p:cNvPr id="12" name="Text 10"/>
          <p:cNvSpPr/>
          <p:nvPr/>
        </p:nvSpPr>
        <p:spPr>
          <a:xfrm>
            <a:off x="3547872" y="2450592"/>
            <a:ext cx="6400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600" b="1" dirty="0">
                <a:solidFill>
                  <a:srgbClr val="0B122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</a:t>
            </a:r>
            <a:endParaRPr lang="en-US" sz="2600" dirty="0"/>
          </a:p>
        </p:txBody>
      </p:sp>
      <p:sp>
        <p:nvSpPr>
          <p:cNvPr id="13" name="Text 11"/>
          <p:cNvSpPr/>
          <p:nvPr/>
        </p:nvSpPr>
        <p:spPr>
          <a:xfrm>
            <a:off x="3520440" y="3246120"/>
            <a:ext cx="21031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F8FAF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Books the job</a:t>
            </a:r>
            <a:endParaRPr lang="en-US" sz="1700" dirty="0"/>
          </a:p>
        </p:txBody>
      </p:sp>
      <p:sp>
        <p:nvSpPr>
          <p:cNvPr id="14" name="Text 12"/>
          <p:cNvSpPr/>
          <p:nvPr/>
        </p:nvSpPr>
        <p:spPr>
          <a:xfrm>
            <a:off x="3520440" y="3611880"/>
            <a:ext cx="210312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9AA7C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Qualifies the call, grabs the details, drops it on your calendar.</a:t>
            </a:r>
            <a:endParaRPr lang="en-US" sz="1300" dirty="0"/>
          </a:p>
        </p:txBody>
      </p:sp>
      <p:sp>
        <p:nvSpPr>
          <p:cNvPr id="15" name="Shape 13"/>
          <p:cNvSpPr/>
          <p:nvPr/>
        </p:nvSpPr>
        <p:spPr>
          <a:xfrm>
            <a:off x="6035040" y="2194560"/>
            <a:ext cx="2514600" cy="2377440"/>
          </a:xfrm>
          <a:prstGeom prst="roundRect">
            <a:avLst>
              <a:gd name="adj" fmla="val 4615"/>
            </a:avLst>
          </a:prstGeom>
          <a:solidFill>
            <a:srgbClr val="16213A"/>
          </a:solidFill>
          <a:ln/>
          <a:effectLst>
            <a:outerShdw sx="100000" sy="100000" kx="0" ky="0" algn="bl" rotWithShape="0" blurRad="114300" dist="38100" dir="5400000">
              <a:srgbClr val="000000">
                <a:alpha val="35000"/>
              </a:srgbClr>
            </a:outerShdw>
          </a:effectLst>
        </p:spPr>
      </p:sp>
      <p:sp>
        <p:nvSpPr>
          <p:cNvPr id="16" name="Shape 14"/>
          <p:cNvSpPr/>
          <p:nvPr/>
        </p:nvSpPr>
        <p:spPr>
          <a:xfrm>
            <a:off x="6291072" y="2450592"/>
            <a:ext cx="640080" cy="640080"/>
          </a:xfrm>
          <a:prstGeom prst="ellipse">
            <a:avLst/>
          </a:prstGeom>
          <a:solidFill>
            <a:srgbClr val="F97316"/>
          </a:solidFill>
          <a:ln/>
        </p:spPr>
      </p:sp>
      <p:sp>
        <p:nvSpPr>
          <p:cNvPr id="17" name="Text 15"/>
          <p:cNvSpPr/>
          <p:nvPr/>
        </p:nvSpPr>
        <p:spPr>
          <a:xfrm>
            <a:off x="6291072" y="2450592"/>
            <a:ext cx="6400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600" b="1" dirty="0">
                <a:solidFill>
                  <a:srgbClr val="0B122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</a:t>
            </a:r>
            <a:endParaRPr lang="en-US" sz="2600" dirty="0"/>
          </a:p>
        </p:txBody>
      </p:sp>
      <p:sp>
        <p:nvSpPr>
          <p:cNvPr id="18" name="Text 16"/>
          <p:cNvSpPr/>
          <p:nvPr/>
        </p:nvSpPr>
        <p:spPr>
          <a:xfrm>
            <a:off x="6263640" y="3246120"/>
            <a:ext cx="21031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F8FAF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Follows up</a:t>
            </a:r>
            <a:endParaRPr lang="en-US" sz="1700" dirty="0"/>
          </a:p>
        </p:txBody>
      </p:sp>
      <p:sp>
        <p:nvSpPr>
          <p:cNvPr id="19" name="Text 17"/>
          <p:cNvSpPr/>
          <p:nvPr/>
        </p:nvSpPr>
        <p:spPr>
          <a:xfrm>
            <a:off x="6263640" y="3611880"/>
            <a:ext cx="210312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9AA7C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Reminds, refills cancellations, and asks for the review. On autopilot.</a:t>
            </a:r>
            <a:endParaRPr lang="en-US" sz="13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0B122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84048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300" kern="0" dirty="0">
                <a:solidFill>
                  <a:srgbClr val="F9731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WHAT IT DOES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48640" y="676656"/>
            <a:ext cx="8229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F8FAF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It does a lot more than answer.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548640" y="1417320"/>
            <a:ext cx="2514600" cy="1417320"/>
          </a:xfrm>
          <a:prstGeom prst="roundRect">
            <a:avLst>
              <a:gd name="adj" fmla="val 6452"/>
            </a:avLst>
          </a:prstGeom>
          <a:solidFill>
            <a:srgbClr val="16213A"/>
          </a:solidFill>
          <a:ln/>
          <a:effectLst>
            <a:outerShdw sx="100000" sy="100000" kx="0" ky="0" algn="bl" rotWithShape="0" blurRad="114300" dist="38100" dir="5400000">
              <a:srgbClr val="000000">
                <a:alpha val="35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749808" y="1636776"/>
            <a:ext cx="420624" cy="420624"/>
          </a:xfrm>
          <a:prstGeom prst="ellipse">
            <a:avLst/>
          </a:prstGeom>
          <a:solidFill>
            <a:srgbClr val="1C284A"/>
          </a:solidFill>
          <a:ln/>
        </p:spPr>
      </p:sp>
      <p:pic>
        <p:nvPicPr>
          <p:cNvPr id="6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41248" y="1737360"/>
            <a:ext cx="237744" cy="237744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1325880" y="1600200"/>
            <a:ext cx="1645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8FAF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24/7 answering</a:t>
            </a:r>
            <a:endParaRPr lang="en-US" sz="1400" dirty="0"/>
          </a:p>
        </p:txBody>
      </p:sp>
      <p:sp>
        <p:nvSpPr>
          <p:cNvPr id="8" name="Text 5"/>
          <p:cNvSpPr/>
          <p:nvPr/>
        </p:nvSpPr>
        <p:spPr>
          <a:xfrm>
            <a:off x="768096" y="2167128"/>
            <a:ext cx="2121408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9AA7C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Every call, in your name, around the clock.</a:t>
            </a:r>
            <a:endParaRPr lang="en-US" sz="1150" dirty="0"/>
          </a:p>
        </p:txBody>
      </p:sp>
      <p:sp>
        <p:nvSpPr>
          <p:cNvPr id="9" name="Shape 6"/>
          <p:cNvSpPr/>
          <p:nvPr/>
        </p:nvSpPr>
        <p:spPr>
          <a:xfrm>
            <a:off x="3291840" y="1417320"/>
            <a:ext cx="2514600" cy="1417320"/>
          </a:xfrm>
          <a:prstGeom prst="roundRect">
            <a:avLst>
              <a:gd name="adj" fmla="val 6452"/>
            </a:avLst>
          </a:prstGeom>
          <a:solidFill>
            <a:srgbClr val="16213A"/>
          </a:solidFill>
          <a:ln/>
          <a:effectLst>
            <a:outerShdw sx="100000" sy="100000" kx="0" ky="0" algn="bl" rotWithShape="0" blurRad="114300" dist="38100" dir="5400000">
              <a:srgbClr val="000000">
                <a:alpha val="35000"/>
              </a:srgbClr>
            </a:outerShdw>
          </a:effectLst>
        </p:spPr>
      </p:sp>
      <p:sp>
        <p:nvSpPr>
          <p:cNvPr id="10" name="Shape 7"/>
          <p:cNvSpPr/>
          <p:nvPr/>
        </p:nvSpPr>
        <p:spPr>
          <a:xfrm>
            <a:off x="3493008" y="1636776"/>
            <a:ext cx="420624" cy="420624"/>
          </a:xfrm>
          <a:prstGeom prst="ellipse">
            <a:avLst/>
          </a:prstGeom>
          <a:solidFill>
            <a:srgbClr val="1C284A"/>
          </a:solidFill>
          <a:ln/>
        </p:spPr>
      </p:sp>
      <p:pic>
        <p:nvPicPr>
          <p:cNvPr id="11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584448" y="1737360"/>
            <a:ext cx="237744" cy="237744"/>
          </a:xfrm>
          <a:prstGeom prst="rect">
            <a:avLst/>
          </a:prstGeom>
        </p:spPr>
      </p:pic>
      <p:sp>
        <p:nvSpPr>
          <p:cNvPr id="12" name="Text 8"/>
          <p:cNvSpPr/>
          <p:nvPr/>
        </p:nvSpPr>
        <p:spPr>
          <a:xfrm>
            <a:off x="4069080" y="1600200"/>
            <a:ext cx="1645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8FAF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Missed-call text-back</a:t>
            </a:r>
            <a:endParaRPr lang="en-US" sz="1400" dirty="0"/>
          </a:p>
        </p:txBody>
      </p:sp>
      <p:sp>
        <p:nvSpPr>
          <p:cNvPr id="13" name="Text 9"/>
          <p:cNvSpPr/>
          <p:nvPr/>
        </p:nvSpPr>
        <p:spPr>
          <a:xfrm>
            <a:off x="3511296" y="2167128"/>
            <a:ext cx="2121408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9AA7C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Fires a text the instant a call slips through.</a:t>
            </a:r>
            <a:endParaRPr lang="en-US" sz="1150" dirty="0"/>
          </a:p>
        </p:txBody>
      </p:sp>
      <p:sp>
        <p:nvSpPr>
          <p:cNvPr id="14" name="Shape 10"/>
          <p:cNvSpPr/>
          <p:nvPr/>
        </p:nvSpPr>
        <p:spPr>
          <a:xfrm>
            <a:off x="6035040" y="1417320"/>
            <a:ext cx="2514600" cy="1417320"/>
          </a:xfrm>
          <a:prstGeom prst="roundRect">
            <a:avLst>
              <a:gd name="adj" fmla="val 6452"/>
            </a:avLst>
          </a:prstGeom>
          <a:solidFill>
            <a:srgbClr val="16213A"/>
          </a:solidFill>
          <a:ln/>
          <a:effectLst>
            <a:outerShdw sx="100000" sy="100000" kx="0" ky="0" algn="bl" rotWithShape="0" blurRad="114300" dist="38100" dir="5400000">
              <a:srgbClr val="000000">
                <a:alpha val="35000"/>
              </a:srgbClr>
            </a:outerShdw>
          </a:effectLst>
        </p:spPr>
      </p:sp>
      <p:sp>
        <p:nvSpPr>
          <p:cNvPr id="15" name="Shape 11"/>
          <p:cNvSpPr/>
          <p:nvPr/>
        </p:nvSpPr>
        <p:spPr>
          <a:xfrm>
            <a:off x="6236208" y="1636776"/>
            <a:ext cx="420624" cy="420624"/>
          </a:xfrm>
          <a:prstGeom prst="ellipse">
            <a:avLst/>
          </a:prstGeom>
          <a:solidFill>
            <a:srgbClr val="1C284A"/>
          </a:solidFill>
          <a:ln/>
        </p:spPr>
      </p:sp>
      <p:pic>
        <p:nvPicPr>
          <p:cNvPr id="16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327648" y="1737360"/>
            <a:ext cx="237744" cy="237744"/>
          </a:xfrm>
          <a:prstGeom prst="rect">
            <a:avLst/>
          </a:prstGeom>
        </p:spPr>
      </p:pic>
      <p:sp>
        <p:nvSpPr>
          <p:cNvPr id="17" name="Text 12"/>
          <p:cNvSpPr/>
          <p:nvPr/>
        </p:nvSpPr>
        <p:spPr>
          <a:xfrm>
            <a:off x="6812280" y="1600200"/>
            <a:ext cx="1645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8FAF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Reminders + backfill</a:t>
            </a:r>
            <a:endParaRPr lang="en-US" sz="1400" dirty="0"/>
          </a:p>
        </p:txBody>
      </p:sp>
      <p:sp>
        <p:nvSpPr>
          <p:cNvPr id="18" name="Text 13"/>
          <p:cNvSpPr/>
          <p:nvPr/>
        </p:nvSpPr>
        <p:spPr>
          <a:xfrm>
            <a:off x="6254496" y="2167128"/>
            <a:ext cx="2121408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9AA7C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Cuts no-shows and refills cancellations from a waitlist.</a:t>
            </a:r>
            <a:endParaRPr lang="en-US" sz="1150" dirty="0"/>
          </a:p>
        </p:txBody>
      </p:sp>
      <p:sp>
        <p:nvSpPr>
          <p:cNvPr id="19" name="Shape 14"/>
          <p:cNvSpPr/>
          <p:nvPr/>
        </p:nvSpPr>
        <p:spPr>
          <a:xfrm>
            <a:off x="548640" y="3017520"/>
            <a:ext cx="2514600" cy="1417320"/>
          </a:xfrm>
          <a:prstGeom prst="roundRect">
            <a:avLst>
              <a:gd name="adj" fmla="val 6452"/>
            </a:avLst>
          </a:prstGeom>
          <a:solidFill>
            <a:srgbClr val="16213A"/>
          </a:solidFill>
          <a:ln/>
          <a:effectLst>
            <a:outerShdw sx="100000" sy="100000" kx="0" ky="0" algn="bl" rotWithShape="0" blurRad="114300" dist="38100" dir="5400000">
              <a:srgbClr val="000000">
                <a:alpha val="35000"/>
              </a:srgbClr>
            </a:outerShdw>
          </a:effectLst>
        </p:spPr>
      </p:sp>
      <p:sp>
        <p:nvSpPr>
          <p:cNvPr id="20" name="Shape 15"/>
          <p:cNvSpPr/>
          <p:nvPr/>
        </p:nvSpPr>
        <p:spPr>
          <a:xfrm>
            <a:off x="749808" y="3236976"/>
            <a:ext cx="420624" cy="420624"/>
          </a:xfrm>
          <a:prstGeom prst="ellipse">
            <a:avLst/>
          </a:prstGeom>
          <a:solidFill>
            <a:srgbClr val="1C284A"/>
          </a:solidFill>
          <a:ln/>
        </p:spPr>
      </p:sp>
      <p:pic>
        <p:nvPicPr>
          <p:cNvPr id="21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50392" y="3337560"/>
            <a:ext cx="237744" cy="237744"/>
          </a:xfrm>
          <a:prstGeom prst="rect">
            <a:avLst/>
          </a:prstGeom>
        </p:spPr>
      </p:pic>
      <p:sp>
        <p:nvSpPr>
          <p:cNvPr id="22" name="Text 16"/>
          <p:cNvSpPr/>
          <p:nvPr/>
        </p:nvSpPr>
        <p:spPr>
          <a:xfrm>
            <a:off x="1325880" y="3200400"/>
            <a:ext cx="1645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8FAF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Review engine</a:t>
            </a:r>
            <a:endParaRPr lang="en-US" sz="1400" dirty="0"/>
          </a:p>
        </p:txBody>
      </p:sp>
      <p:sp>
        <p:nvSpPr>
          <p:cNvPr id="23" name="Text 17"/>
          <p:cNvSpPr/>
          <p:nvPr/>
        </p:nvSpPr>
        <p:spPr>
          <a:xfrm>
            <a:off x="768096" y="3767328"/>
            <a:ext cx="2121408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9AA7C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Asks every happy customer, climbs you up Google.</a:t>
            </a:r>
            <a:endParaRPr lang="en-US" sz="1150" dirty="0"/>
          </a:p>
        </p:txBody>
      </p:sp>
      <p:sp>
        <p:nvSpPr>
          <p:cNvPr id="24" name="Shape 18"/>
          <p:cNvSpPr/>
          <p:nvPr/>
        </p:nvSpPr>
        <p:spPr>
          <a:xfrm>
            <a:off x="3291840" y="3017520"/>
            <a:ext cx="2514600" cy="1417320"/>
          </a:xfrm>
          <a:prstGeom prst="roundRect">
            <a:avLst>
              <a:gd name="adj" fmla="val 6452"/>
            </a:avLst>
          </a:prstGeom>
          <a:solidFill>
            <a:srgbClr val="16213A"/>
          </a:solidFill>
          <a:ln/>
          <a:effectLst>
            <a:outerShdw sx="100000" sy="100000" kx="0" ky="0" algn="bl" rotWithShape="0" blurRad="114300" dist="38100" dir="5400000">
              <a:srgbClr val="000000">
                <a:alpha val="35000"/>
              </a:srgbClr>
            </a:outerShdw>
          </a:effectLst>
        </p:spPr>
      </p:sp>
      <p:sp>
        <p:nvSpPr>
          <p:cNvPr id="25" name="Shape 19"/>
          <p:cNvSpPr/>
          <p:nvPr/>
        </p:nvSpPr>
        <p:spPr>
          <a:xfrm>
            <a:off x="3493008" y="3236976"/>
            <a:ext cx="420624" cy="420624"/>
          </a:xfrm>
          <a:prstGeom prst="ellipse">
            <a:avLst/>
          </a:prstGeom>
          <a:solidFill>
            <a:srgbClr val="1C284A"/>
          </a:solidFill>
          <a:ln/>
        </p:spPr>
      </p:sp>
      <p:pic>
        <p:nvPicPr>
          <p:cNvPr id="26" name="Image 4" descr="preencod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3584448" y="3337560"/>
            <a:ext cx="237744" cy="237744"/>
          </a:xfrm>
          <a:prstGeom prst="rect">
            <a:avLst/>
          </a:prstGeom>
        </p:spPr>
      </p:pic>
      <p:sp>
        <p:nvSpPr>
          <p:cNvPr id="27" name="Text 20"/>
          <p:cNvSpPr/>
          <p:nvPr/>
        </p:nvSpPr>
        <p:spPr>
          <a:xfrm>
            <a:off x="4069080" y="3200400"/>
            <a:ext cx="1645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8FAF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AI smart estimate</a:t>
            </a:r>
            <a:endParaRPr lang="en-US" sz="1400" dirty="0"/>
          </a:p>
        </p:txBody>
      </p:sp>
      <p:sp>
        <p:nvSpPr>
          <p:cNvPr id="28" name="Text 21"/>
          <p:cNvSpPr/>
          <p:nvPr/>
        </p:nvSpPr>
        <p:spPr>
          <a:xfrm>
            <a:off x="3511296" y="3767328"/>
            <a:ext cx="2121408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9AA7C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Quotes from a photo or an address. Real numbers, fast.</a:t>
            </a:r>
            <a:endParaRPr lang="en-US" sz="1150" dirty="0"/>
          </a:p>
        </p:txBody>
      </p:sp>
      <p:sp>
        <p:nvSpPr>
          <p:cNvPr id="29" name="Shape 22"/>
          <p:cNvSpPr/>
          <p:nvPr/>
        </p:nvSpPr>
        <p:spPr>
          <a:xfrm>
            <a:off x="6035040" y="3017520"/>
            <a:ext cx="2514600" cy="1417320"/>
          </a:xfrm>
          <a:prstGeom prst="roundRect">
            <a:avLst>
              <a:gd name="adj" fmla="val 6452"/>
            </a:avLst>
          </a:prstGeom>
          <a:solidFill>
            <a:srgbClr val="16213A"/>
          </a:solidFill>
          <a:ln/>
          <a:effectLst>
            <a:outerShdw sx="100000" sy="100000" kx="0" ky="0" algn="bl" rotWithShape="0" blurRad="114300" dist="38100" dir="5400000">
              <a:srgbClr val="000000">
                <a:alpha val="35000"/>
              </a:srgbClr>
            </a:outerShdw>
          </a:effectLst>
        </p:spPr>
      </p:sp>
      <p:sp>
        <p:nvSpPr>
          <p:cNvPr id="30" name="Shape 23"/>
          <p:cNvSpPr/>
          <p:nvPr/>
        </p:nvSpPr>
        <p:spPr>
          <a:xfrm>
            <a:off x="6236208" y="3236976"/>
            <a:ext cx="420624" cy="420624"/>
          </a:xfrm>
          <a:prstGeom prst="ellipse">
            <a:avLst/>
          </a:prstGeom>
          <a:solidFill>
            <a:srgbClr val="1C284A"/>
          </a:solidFill>
          <a:ln/>
        </p:spPr>
      </p:sp>
      <p:pic>
        <p:nvPicPr>
          <p:cNvPr id="31" name="Image 5" descr="preencoded.png">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6327648" y="3337560"/>
            <a:ext cx="237744" cy="237744"/>
          </a:xfrm>
          <a:prstGeom prst="rect">
            <a:avLst/>
          </a:prstGeom>
        </p:spPr>
      </p:pic>
      <p:sp>
        <p:nvSpPr>
          <p:cNvPr id="32" name="Text 24"/>
          <p:cNvSpPr/>
          <p:nvPr/>
        </p:nvSpPr>
        <p:spPr>
          <a:xfrm>
            <a:off x="6812280" y="3200400"/>
            <a:ext cx="1645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8FAF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Win-back &amp; referrals</a:t>
            </a:r>
            <a:endParaRPr lang="en-US" sz="1400" dirty="0"/>
          </a:p>
        </p:txBody>
      </p:sp>
      <p:sp>
        <p:nvSpPr>
          <p:cNvPr id="33" name="Text 25"/>
          <p:cNvSpPr/>
          <p:nvPr/>
        </p:nvSpPr>
        <p:spPr>
          <a:xfrm>
            <a:off x="6254496" y="3767328"/>
            <a:ext cx="2121408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9AA7C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Re-engages quiet customers and asks for referrals.</a:t>
            </a:r>
            <a:endParaRPr lang="en-US" sz="115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0B122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5720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300" kern="0" dirty="0">
                <a:solidFill>
                  <a:srgbClr val="F9731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 PART NOBODY ELSE DOES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48640" y="749808"/>
            <a:ext cx="8229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F8FAF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It doesn't just answer. It quotes.</a:t>
            </a:r>
            <a:endParaRPr lang="en-US" sz="3200" dirty="0"/>
          </a:p>
        </p:txBody>
      </p:sp>
      <p:sp>
        <p:nvSpPr>
          <p:cNvPr id="4" name="Text 2"/>
          <p:cNvSpPr/>
          <p:nvPr/>
        </p:nvSpPr>
        <p:spPr>
          <a:xfrm>
            <a:off x="548640" y="1508760"/>
            <a:ext cx="4297680" cy="23774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5000"/>
              </a:lnSpc>
              <a:buNone/>
            </a:pPr>
            <a:r>
              <a:rPr lang="en-US" sz="1600" b="1" dirty="0">
                <a:solidFill>
                  <a:srgbClr val="F8FAF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Roofing example. </a:t>
            </a:r>
            <a:pPr indent="0" marL="0">
              <a:lnSpc>
                <a:spcPct val="105000"/>
              </a:lnSpc>
              <a:buNone/>
            </a:pPr>
            <a:r>
              <a:rPr lang="en-US" sz="1600" dirty="0">
                <a:solidFill>
                  <a:srgbClr val="9AA7C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 customer sends an address and a couple details. The AI measures the roof from satellite and hands your estimator a full materials list. Before anyone climbs a ladder.</a:t>
            </a:r>
            <a:endParaRPr lang="en-US" sz="1600" dirty="0"/>
          </a:p>
        </p:txBody>
      </p:sp>
      <p:sp>
        <p:nvSpPr>
          <p:cNvPr id="5" name="Shape 3"/>
          <p:cNvSpPr/>
          <p:nvPr/>
        </p:nvSpPr>
        <p:spPr>
          <a:xfrm>
            <a:off x="5120640" y="1508760"/>
            <a:ext cx="3520440" cy="3063240"/>
          </a:xfrm>
          <a:prstGeom prst="roundRect">
            <a:avLst>
              <a:gd name="adj" fmla="val 2985"/>
            </a:avLst>
          </a:prstGeom>
          <a:solidFill>
            <a:srgbClr val="16213A"/>
          </a:solidFill>
          <a:ln/>
          <a:effectLst>
            <a:outerShdw sx="100000" sy="100000" kx="0" ky="0" algn="bl" rotWithShape="0" blurRad="114300" dist="38100" dir="5400000">
              <a:srgbClr val="000000">
                <a:alpha val="35000"/>
              </a:srgbClr>
            </a:outerShdw>
          </a:effectLst>
        </p:spPr>
      </p:sp>
      <p:sp>
        <p:nvSpPr>
          <p:cNvPr id="6" name="Text 4"/>
          <p:cNvSpPr/>
          <p:nvPr/>
        </p:nvSpPr>
        <p:spPr>
          <a:xfrm>
            <a:off x="5349240" y="1691640"/>
            <a:ext cx="31089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rgbClr val="22D3A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SAMPLE TAKEOFF</a:t>
            </a:r>
            <a:endParaRPr lang="en-US" sz="1100" dirty="0"/>
          </a:p>
        </p:txBody>
      </p:sp>
      <p:sp>
        <p:nvSpPr>
          <p:cNvPr id="7" name="Text 5"/>
          <p:cNvSpPr/>
          <p:nvPr/>
        </p:nvSpPr>
        <p:spPr>
          <a:xfrm>
            <a:off x="5440680" y="2057400"/>
            <a:ext cx="3063240" cy="23774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250" dirty="0">
                <a:solidFill>
                  <a:srgbClr val="F8FAF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28.5 squares of shingles</a:t>
            </a:r>
            <a:endParaRPr lang="en-US" sz="1250" dirty="0"/>
          </a:p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250" dirty="0">
                <a:solidFill>
                  <a:srgbClr val="F8FAF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86 bundles (3 per square)</a:t>
            </a:r>
            <a:endParaRPr lang="en-US" sz="1250" dirty="0"/>
          </a:p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250" dirty="0">
                <a:solidFill>
                  <a:srgbClr val="F8FAF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6 rolls underlayment</a:t>
            </a:r>
            <a:endParaRPr lang="en-US" sz="1250" dirty="0"/>
          </a:p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250" dirty="0">
                <a:solidFill>
                  <a:srgbClr val="F8FAF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120 ft starter strip</a:t>
            </a:r>
            <a:endParaRPr lang="en-US" sz="1250" dirty="0"/>
          </a:p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250" dirty="0">
                <a:solidFill>
                  <a:srgbClr val="F8FAF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95 ft ridge cap</a:t>
            </a:r>
            <a:endParaRPr lang="en-US" sz="1250" dirty="0"/>
          </a:p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250" dirty="0">
                <a:solidFill>
                  <a:srgbClr val="F8FAF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180 ft drip edge</a:t>
            </a:r>
            <a:endParaRPr lang="en-US" sz="1250" dirty="0"/>
          </a:p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250" dirty="0">
                <a:solidFill>
                  <a:srgbClr val="F8FAF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180 ft gutters + 6 downspouts</a:t>
            </a:r>
            <a:endParaRPr lang="en-US" sz="1250" dirty="0"/>
          </a:p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250" dirty="0">
                <a:solidFill>
                  <a:srgbClr val="F8FAF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~4 coils of nails</a:t>
            </a:r>
            <a:endParaRPr lang="en-US" sz="125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0B122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5720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300" kern="0" dirty="0">
                <a:solidFill>
                  <a:srgbClr val="F9731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WHAT YOUR CUSTOMER FEELS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48640" y="749808"/>
            <a:ext cx="8229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F8FAF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This is what they get.</a:t>
            </a:r>
            <a:endParaRPr lang="en-US" sz="3200" dirty="0"/>
          </a:p>
        </p:txBody>
      </p:sp>
      <p:sp>
        <p:nvSpPr>
          <p:cNvPr id="4" name="Text 2"/>
          <p:cNvSpPr/>
          <p:nvPr/>
        </p:nvSpPr>
        <p:spPr>
          <a:xfrm>
            <a:off x="548640" y="1554480"/>
            <a:ext cx="2514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22D3A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Missed-call text-back</a:t>
            </a:r>
            <a:endParaRPr lang="en-US" sz="1300" dirty="0"/>
          </a:p>
        </p:txBody>
      </p:sp>
      <p:sp>
        <p:nvSpPr>
          <p:cNvPr id="5" name="Shape 3"/>
          <p:cNvSpPr/>
          <p:nvPr/>
        </p:nvSpPr>
        <p:spPr>
          <a:xfrm>
            <a:off x="548640" y="1965960"/>
            <a:ext cx="2514600" cy="2331720"/>
          </a:xfrm>
          <a:prstGeom prst="roundRect">
            <a:avLst>
              <a:gd name="adj" fmla="val 6275"/>
            </a:avLst>
          </a:prstGeom>
          <a:solidFill>
            <a:srgbClr val="1C284A"/>
          </a:solidFill>
          <a:ln/>
          <a:effectLst>
            <a:outerShdw sx="100000" sy="100000" kx="0" ky="0" algn="bl" rotWithShape="0" blurRad="114300" dist="38100" dir="5400000">
              <a:srgbClr val="000000">
                <a:alpha val="35000"/>
              </a:srgbClr>
            </a:outerShdw>
          </a:effectLst>
        </p:spPr>
      </p:sp>
      <p:sp>
        <p:nvSpPr>
          <p:cNvPr id="6" name="Text 4"/>
          <p:cNvSpPr/>
          <p:nvPr/>
        </p:nvSpPr>
        <p:spPr>
          <a:xfrm>
            <a:off x="804672" y="2194560"/>
            <a:ext cx="2011680" cy="1920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5000"/>
              </a:lnSpc>
              <a:buNone/>
            </a:pPr>
            <a:r>
              <a:rPr lang="en-US" sz="1350" dirty="0">
                <a:solidFill>
                  <a:srgbClr val="F8FAF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Hi! Sorry we missed you, the crew is on a call. What's going on, and what's the address? I can get you on the schedule right now.</a:t>
            </a:r>
            <a:endParaRPr lang="en-US" sz="1350" dirty="0"/>
          </a:p>
        </p:txBody>
      </p:sp>
      <p:sp>
        <p:nvSpPr>
          <p:cNvPr id="7" name="Text 5"/>
          <p:cNvSpPr/>
          <p:nvPr/>
        </p:nvSpPr>
        <p:spPr>
          <a:xfrm>
            <a:off x="3291840" y="1554480"/>
            <a:ext cx="2514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22D3A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Appointment reminder</a:t>
            </a:r>
            <a:endParaRPr lang="en-US" sz="1300" dirty="0"/>
          </a:p>
        </p:txBody>
      </p:sp>
      <p:sp>
        <p:nvSpPr>
          <p:cNvPr id="8" name="Shape 6"/>
          <p:cNvSpPr/>
          <p:nvPr/>
        </p:nvSpPr>
        <p:spPr>
          <a:xfrm>
            <a:off x="3291840" y="1965960"/>
            <a:ext cx="2514600" cy="2331720"/>
          </a:xfrm>
          <a:prstGeom prst="roundRect">
            <a:avLst>
              <a:gd name="adj" fmla="val 6275"/>
            </a:avLst>
          </a:prstGeom>
          <a:solidFill>
            <a:srgbClr val="1C284A"/>
          </a:solidFill>
          <a:ln/>
          <a:effectLst>
            <a:outerShdw sx="100000" sy="100000" kx="0" ky="0" algn="bl" rotWithShape="0" blurRad="114300" dist="38100" dir="5400000">
              <a:srgbClr val="000000">
                <a:alpha val="35000"/>
              </a:srgbClr>
            </a:outerShdw>
          </a:effectLst>
        </p:spPr>
      </p:sp>
      <p:sp>
        <p:nvSpPr>
          <p:cNvPr id="9" name="Text 7"/>
          <p:cNvSpPr/>
          <p:nvPr/>
        </p:nvSpPr>
        <p:spPr>
          <a:xfrm>
            <a:off x="3547872" y="2194560"/>
            <a:ext cx="2011680" cy="1920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5000"/>
              </a:lnSpc>
              <a:buNone/>
            </a:pPr>
            <a:r>
              <a:rPr lang="en-US" sz="1350" dirty="0">
                <a:solidFill>
                  <a:srgbClr val="F8FAF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Reminder: your service is tomorrow 1 to 3pm. Reply C to confirm or R to reschedule. We'll text when the tech is 30 min out.</a:t>
            </a:r>
            <a:endParaRPr lang="en-US" sz="1350" dirty="0"/>
          </a:p>
        </p:txBody>
      </p:sp>
      <p:sp>
        <p:nvSpPr>
          <p:cNvPr id="10" name="Text 8"/>
          <p:cNvSpPr/>
          <p:nvPr/>
        </p:nvSpPr>
        <p:spPr>
          <a:xfrm>
            <a:off x="6035040" y="1554480"/>
            <a:ext cx="2514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22D3A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Review request</a:t>
            </a:r>
            <a:endParaRPr lang="en-US" sz="1300" dirty="0"/>
          </a:p>
        </p:txBody>
      </p:sp>
      <p:sp>
        <p:nvSpPr>
          <p:cNvPr id="11" name="Shape 9"/>
          <p:cNvSpPr/>
          <p:nvPr/>
        </p:nvSpPr>
        <p:spPr>
          <a:xfrm>
            <a:off x="6035040" y="1965960"/>
            <a:ext cx="2514600" cy="2331720"/>
          </a:xfrm>
          <a:prstGeom prst="roundRect">
            <a:avLst>
              <a:gd name="adj" fmla="val 6275"/>
            </a:avLst>
          </a:prstGeom>
          <a:solidFill>
            <a:srgbClr val="1C284A"/>
          </a:solidFill>
          <a:ln/>
          <a:effectLst>
            <a:outerShdw sx="100000" sy="100000" kx="0" ky="0" algn="bl" rotWithShape="0" blurRad="114300" dist="38100" dir="5400000">
              <a:srgbClr val="000000">
                <a:alpha val="35000"/>
              </a:srgbClr>
            </a:outerShdw>
          </a:effectLst>
        </p:spPr>
      </p:sp>
      <p:sp>
        <p:nvSpPr>
          <p:cNvPr id="12" name="Text 10"/>
          <p:cNvSpPr/>
          <p:nvPr/>
        </p:nvSpPr>
        <p:spPr>
          <a:xfrm>
            <a:off x="6291072" y="2194560"/>
            <a:ext cx="2011680" cy="1920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5000"/>
              </a:lnSpc>
              <a:buNone/>
            </a:pPr>
            <a:r>
              <a:rPr lang="en-US" sz="1350" dirty="0">
                <a:solidFill>
                  <a:srgbClr val="F8FAF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Thanks for choosing us! Mind leaving a quick Google review? It really helps a local shop like ours.</a:t>
            </a:r>
            <a:endParaRPr lang="en-US" sz="1350" dirty="0"/>
          </a:p>
        </p:txBody>
      </p:sp>
      <p:sp>
        <p:nvSpPr>
          <p:cNvPr id="13" name="Text 11"/>
          <p:cNvSpPr/>
          <p:nvPr/>
        </p:nvSpPr>
        <p:spPr>
          <a:xfrm>
            <a:off x="548640" y="4526280"/>
            <a:ext cx="8229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i="1" dirty="0">
                <a:solidFill>
                  <a:srgbClr val="9AA7C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Real messages. Sent automatically. In your business's name.</a:t>
            </a:r>
            <a:endParaRPr lang="en-US" sz="13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0B122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1148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300" kern="0" dirty="0">
                <a:solidFill>
                  <a:srgbClr val="F9731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HONEST COMPARISON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48640" y="704088"/>
            <a:ext cx="8229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F8FAF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Three ways to handle your phones.</a:t>
            </a:r>
            <a:endParaRPr lang="en-US" sz="3000" dirty="0"/>
          </a:p>
        </p:txBody>
      </p:sp>
      <p:graphicFrame>
        <p:nvGraphicFramePr>
          <p:cNvPr id="10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48640" y="1417320"/>
          <a:ext cx="8046720" cy="914400"/>
        </p:xfrm>
        <a:graphic>
          <a:graphicData uri="http://schemas.openxmlformats.org/drawingml/2006/table">
            <a:tbl>
              <a:tblPr/>
              <a:tblGrid>
                <a:gridCol w="2743200"/>
                <a:gridCol w="1764792"/>
                <a:gridCol w="1764792"/>
                <a:gridCol w="1773936"/>
              </a:tblGrid>
              <a:tr h="50292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endParaRPr lang="en-US" sz="13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38100" marB="38100" anchor="ctr">
                    <a:lnL w="12700" cap="flat" cmpd="sng" algn="ctr">
                      <a:solidFill>
                        <a:srgbClr val="0B122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B122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B122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B122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B1220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b="1" dirty="0">
                          <a:solidFill>
                            <a:srgbClr val="9AA7C2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Voicemail</a:t>
                      </a:r>
                      <a:endParaRPr lang="en-US" sz="13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38100" marB="38100" anchor="ctr">
                    <a:lnL w="12700" cap="flat" cmpd="sng" algn="ctr">
                      <a:solidFill>
                        <a:srgbClr val="0B122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B122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B122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B122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6213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b="1" dirty="0">
                          <a:solidFill>
                            <a:srgbClr val="9AA7C2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A receptionist</a:t>
                      </a:r>
                      <a:endParaRPr lang="en-US" sz="13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  <a:p>
                      <a:pPr algn="ctr" indent="0" marL="0">
                        <a:buNone/>
                      </a:pPr>
                      <a:r>
                        <a:rPr lang="en-US" sz="1300" b="1" dirty="0">
                          <a:solidFill>
                            <a:srgbClr val="9AA7C2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~$3,500/mo</a:t>
                      </a:r>
                      <a:endParaRPr lang="en-US" sz="13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38100" marB="38100" anchor="ctr">
                    <a:lnL w="12700" cap="flat" cmpd="sng" algn="ctr">
                      <a:solidFill>
                        <a:srgbClr val="0B122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B122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B122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B122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6213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b="1" dirty="0">
                          <a:solidFill>
                            <a:srgbClr val="22D3A6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AI Front Desk</a:t>
                      </a:r>
                      <a:endParaRPr lang="en-US" sz="13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38100" marB="38100" anchor="ctr">
                    <a:lnL w="12700" cap="flat" cmpd="sng" algn="ctr">
                      <a:solidFill>
                        <a:srgbClr val="0B122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B122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B122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B122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23A33"/>
                    </a:solidFill>
                  </a:tcPr>
                </a:tc>
              </a:tr>
              <a:tr h="50292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F8FAF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Answers 24/7, nights &amp; weekends</a:t>
                      </a:r>
                      <a:endParaRPr lang="en-US" sz="13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38100" marB="38100" anchor="ctr">
                    <a:lnL w="12700" cap="flat" cmpd="sng" algn="ctr">
                      <a:solidFill>
                        <a:srgbClr val="0B122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B122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B122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B122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C284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b="1" dirty="0">
                          <a:solidFill>
                            <a:srgbClr val="FF6B6B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No</a:t>
                      </a:r>
                      <a:endParaRPr lang="en-US" sz="13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38100" marB="38100" anchor="ctr">
                    <a:lnL w="12700" cap="flat" cmpd="sng" algn="ctr">
                      <a:solidFill>
                        <a:srgbClr val="0B122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B122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B122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B122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6213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b="1" dirty="0">
                          <a:solidFill>
                            <a:srgbClr val="FF6B6B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No</a:t>
                      </a:r>
                      <a:endParaRPr lang="en-US" sz="13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38100" marB="38100" anchor="ctr">
                    <a:lnL w="12700" cap="flat" cmpd="sng" algn="ctr">
                      <a:solidFill>
                        <a:srgbClr val="0B122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B122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B122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B122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6213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b="1" dirty="0">
                          <a:solidFill>
                            <a:srgbClr val="22D3A6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Yes</a:t>
                      </a:r>
                      <a:endParaRPr lang="en-US" sz="13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38100" marB="38100" anchor="ctr">
                    <a:lnL w="12700" cap="flat" cmpd="sng" algn="ctr">
                      <a:solidFill>
                        <a:srgbClr val="0B122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B122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B122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B122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F2A24"/>
                    </a:solidFill>
                  </a:tcPr>
                </a:tc>
              </a:tr>
              <a:tr h="50292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F8FAF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Never sick, never quits</a:t>
                      </a:r>
                      <a:endParaRPr lang="en-US" sz="13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38100" marB="38100" anchor="ctr">
                    <a:lnL w="12700" cap="flat" cmpd="sng" algn="ctr">
                      <a:solidFill>
                        <a:srgbClr val="0B122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B122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B122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B122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C284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b="1" dirty="0">
                          <a:solidFill>
                            <a:srgbClr val="FF6B6B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No</a:t>
                      </a:r>
                      <a:endParaRPr lang="en-US" sz="13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38100" marB="38100" anchor="ctr">
                    <a:lnL w="12700" cap="flat" cmpd="sng" algn="ctr">
                      <a:solidFill>
                        <a:srgbClr val="0B122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B122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B122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B122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6213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b="1" dirty="0">
                          <a:solidFill>
                            <a:srgbClr val="FF6B6B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No</a:t>
                      </a:r>
                      <a:endParaRPr lang="en-US" sz="13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38100" marB="38100" anchor="ctr">
                    <a:lnL w="12700" cap="flat" cmpd="sng" algn="ctr">
                      <a:solidFill>
                        <a:srgbClr val="0B122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B122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B122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B122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6213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b="1" dirty="0">
                          <a:solidFill>
                            <a:srgbClr val="22D3A6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Yes</a:t>
                      </a:r>
                      <a:endParaRPr lang="en-US" sz="13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38100" marB="38100" anchor="ctr">
                    <a:lnL w="12700" cap="flat" cmpd="sng" algn="ctr">
                      <a:solidFill>
                        <a:srgbClr val="0B122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B122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B122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B122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F2A24"/>
                    </a:solidFill>
                  </a:tcPr>
                </a:tc>
              </a:tr>
              <a:tr h="50292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F8FAF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Answers 5 calls at once</a:t>
                      </a:r>
                      <a:endParaRPr lang="en-US" sz="13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38100" marB="38100" anchor="ctr">
                    <a:lnL w="12700" cap="flat" cmpd="sng" algn="ctr">
                      <a:solidFill>
                        <a:srgbClr val="0B122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B122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B122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B122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C284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b="1" dirty="0">
                          <a:solidFill>
                            <a:srgbClr val="FF6B6B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No</a:t>
                      </a:r>
                      <a:endParaRPr lang="en-US" sz="13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38100" marB="38100" anchor="ctr">
                    <a:lnL w="12700" cap="flat" cmpd="sng" algn="ctr">
                      <a:solidFill>
                        <a:srgbClr val="0B122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B122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B122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B122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6213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b="1" dirty="0">
                          <a:solidFill>
                            <a:srgbClr val="FF6B6B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No</a:t>
                      </a:r>
                      <a:endParaRPr lang="en-US" sz="13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38100" marB="38100" anchor="ctr">
                    <a:lnL w="12700" cap="flat" cmpd="sng" algn="ctr">
                      <a:solidFill>
                        <a:srgbClr val="0B122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B122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B122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B122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6213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b="1" dirty="0">
                          <a:solidFill>
                            <a:srgbClr val="22D3A6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Yes</a:t>
                      </a:r>
                      <a:endParaRPr lang="en-US" sz="13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38100" marB="38100" anchor="ctr">
                    <a:lnL w="12700" cap="flat" cmpd="sng" algn="ctr">
                      <a:solidFill>
                        <a:srgbClr val="0B122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B122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B122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B122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F2A24"/>
                    </a:solidFill>
                  </a:tcPr>
                </a:tc>
              </a:tr>
              <a:tr h="50292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F8FAF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Books the job &amp; follows up</a:t>
                      </a:r>
                      <a:endParaRPr lang="en-US" sz="13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38100" marB="38100" anchor="ctr">
                    <a:lnL w="12700" cap="flat" cmpd="sng" algn="ctr">
                      <a:solidFill>
                        <a:srgbClr val="0B122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B122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B122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B122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C284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b="1" dirty="0">
                          <a:solidFill>
                            <a:srgbClr val="FF6B6B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No</a:t>
                      </a:r>
                      <a:endParaRPr lang="en-US" sz="13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38100" marB="38100" anchor="ctr">
                    <a:lnL w="12700" cap="flat" cmpd="sng" algn="ctr">
                      <a:solidFill>
                        <a:srgbClr val="0B122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B122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B122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B122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6213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b="1" dirty="0">
                          <a:solidFill>
                            <a:srgbClr val="22D3A6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Yes</a:t>
                      </a:r>
                      <a:endParaRPr lang="en-US" sz="13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38100" marB="38100" anchor="ctr">
                    <a:lnL w="12700" cap="flat" cmpd="sng" algn="ctr">
                      <a:solidFill>
                        <a:srgbClr val="0B122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B122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B122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B122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F2A24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b="1" dirty="0">
                          <a:solidFill>
                            <a:srgbClr val="22D3A6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Yes</a:t>
                      </a:r>
                      <a:endParaRPr lang="en-US" sz="13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38100" marB="38100" anchor="ctr">
                    <a:lnL w="12700" cap="flat" cmpd="sng" algn="ctr">
                      <a:solidFill>
                        <a:srgbClr val="0B122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B122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B122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B122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F2A24"/>
                    </a:solidFill>
                  </a:tcPr>
                </a:tc>
              </a:tr>
              <a:tr h="50292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F8FAF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Monthly cost</a:t>
                      </a:r>
                      <a:endParaRPr lang="en-US" sz="13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38100" marB="38100" anchor="ctr">
                    <a:lnL w="12700" cap="flat" cmpd="sng" algn="ctr">
                      <a:solidFill>
                        <a:srgbClr val="0B122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B122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B122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B122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C284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dirty="0">
                          <a:solidFill>
                            <a:srgbClr val="F8FAF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$0 + lost jobs</a:t>
                      </a:r>
                      <a:endParaRPr lang="en-US" sz="13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38100" marB="38100" anchor="ctr">
                    <a:lnL w="12700" cap="flat" cmpd="sng" algn="ctr">
                      <a:solidFill>
                        <a:srgbClr val="0B122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B122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B122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B122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6213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dirty="0">
                          <a:solidFill>
                            <a:srgbClr val="F8FAF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~$3,500+</a:t>
                      </a:r>
                      <a:endParaRPr lang="en-US" sz="13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38100" marB="38100" anchor="ctr">
                    <a:lnL w="12700" cap="flat" cmpd="sng" algn="ctr">
                      <a:solidFill>
                        <a:srgbClr val="0B122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B122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B122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B122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6213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dirty="0">
                          <a:solidFill>
                            <a:srgbClr val="F8FAF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A fraction of one job</a:t>
                      </a:r>
                      <a:endParaRPr lang="en-US" sz="13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38100" marB="38100" anchor="ctr">
                    <a:lnL w="12700" cap="flat" cmpd="sng" algn="ctr">
                      <a:solidFill>
                        <a:srgbClr val="0B122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B122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B122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B122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6213A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0B122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50292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300" kern="0" dirty="0">
                <a:solidFill>
                  <a:srgbClr val="F9731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 OFFER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48640" y="841248"/>
            <a:ext cx="82296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0000"/>
              </a:lnSpc>
              <a:buNone/>
            </a:pPr>
            <a:r>
              <a:rPr lang="en-US" sz="3400" b="1" dirty="0">
                <a:solidFill>
                  <a:srgbClr val="F8FAF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See your missed-call number </a:t>
            </a:r>
            <a:pPr indent="0" marL="0">
              <a:lnSpc>
                <a:spcPct val="100000"/>
              </a:lnSpc>
              <a:buNone/>
            </a:pPr>
            <a:r>
              <a:rPr lang="en-US" sz="3400" b="1" dirty="0">
                <a:solidFill>
                  <a:srgbClr val="F9731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before</a:t>
            </a:r>
            <a:pPr indent="0" marL="0">
              <a:lnSpc>
                <a:spcPct val="100000"/>
              </a:lnSpc>
              <a:buNone/>
            </a:pPr>
            <a:r>
              <a:rPr lang="en-US" sz="3400" b="1" dirty="0">
                <a:solidFill>
                  <a:srgbClr val="F8FAF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you pay a dime.</a:t>
            </a:r>
            <a:endParaRPr lang="en-US" sz="3400" dirty="0"/>
          </a:p>
        </p:txBody>
      </p:sp>
      <p:pic>
        <p:nvPicPr>
          <p:cNvPr id="4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40080" y="2148840"/>
            <a:ext cx="329184" cy="329184"/>
          </a:xfrm>
          <a:prstGeom prst="rect">
            <a:avLst/>
          </a:prstGeom>
        </p:spPr>
      </p:pic>
      <p:sp>
        <p:nvSpPr>
          <p:cNvPr id="5" name="Text 2"/>
          <p:cNvSpPr/>
          <p:nvPr/>
        </p:nvSpPr>
        <p:spPr>
          <a:xfrm>
            <a:off x="1097280" y="2093976"/>
            <a:ext cx="7315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rgbClr val="F8FAF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Live on your line in about a week.</a:t>
            </a:r>
            <a:endParaRPr lang="en-US" sz="1800" dirty="0"/>
          </a:p>
        </p:txBody>
      </p:sp>
      <p:pic>
        <p:nvPicPr>
          <p:cNvPr id="6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0080" y="2715768"/>
            <a:ext cx="329184" cy="329184"/>
          </a:xfrm>
          <a:prstGeom prst="rect">
            <a:avLst/>
          </a:prstGeom>
        </p:spPr>
      </p:pic>
      <p:sp>
        <p:nvSpPr>
          <p:cNvPr id="7" name="Text 3"/>
          <p:cNvSpPr/>
          <p:nvPr/>
        </p:nvSpPr>
        <p:spPr>
          <a:xfrm>
            <a:off x="1097280" y="2660904"/>
            <a:ext cx="7315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rgbClr val="F8FAF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Works with your existing number.</a:t>
            </a:r>
            <a:endParaRPr lang="en-US" sz="1800" dirty="0"/>
          </a:p>
        </p:txBody>
      </p:sp>
      <p:pic>
        <p:nvPicPr>
          <p:cNvPr id="8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40080" y="3282696"/>
            <a:ext cx="329184" cy="329184"/>
          </a:xfrm>
          <a:prstGeom prst="rect">
            <a:avLst/>
          </a:prstGeom>
        </p:spPr>
      </p:pic>
      <p:sp>
        <p:nvSpPr>
          <p:cNvPr id="9" name="Text 4"/>
          <p:cNvSpPr/>
          <p:nvPr/>
        </p:nvSpPr>
        <p:spPr>
          <a:xfrm>
            <a:off x="1097280" y="3227832"/>
            <a:ext cx="7315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rgbClr val="F8FAF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No long contract. Cancel anytime.</a:t>
            </a:r>
            <a:endParaRPr lang="en-US" sz="1800" dirty="0"/>
          </a:p>
        </p:txBody>
      </p:sp>
      <p:sp>
        <p:nvSpPr>
          <p:cNvPr id="10" name="Shape 5"/>
          <p:cNvSpPr/>
          <p:nvPr/>
        </p:nvSpPr>
        <p:spPr>
          <a:xfrm>
            <a:off x="548640" y="3977640"/>
            <a:ext cx="4114800" cy="713232"/>
          </a:xfrm>
          <a:prstGeom prst="roundRect">
            <a:avLst>
              <a:gd name="adj" fmla="val 12821"/>
            </a:avLst>
          </a:prstGeom>
          <a:solidFill>
            <a:srgbClr val="F97316"/>
          </a:solidFill>
          <a:ln/>
          <a:effectLst>
            <a:outerShdw sx="100000" sy="100000" kx="0" ky="0" algn="bl" rotWithShape="0" blurRad="114300" dist="38100" dir="5400000">
              <a:srgbClr val="000000">
                <a:alpha val="35000"/>
              </a:srgbClr>
            </a:outerShdw>
          </a:effectLst>
        </p:spPr>
      </p:sp>
      <p:sp>
        <p:nvSpPr>
          <p:cNvPr id="11" name="Text 6"/>
          <p:cNvSpPr/>
          <p:nvPr/>
        </p:nvSpPr>
        <p:spPr>
          <a:xfrm>
            <a:off x="548640" y="3977640"/>
            <a:ext cx="4114800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100" b="1" dirty="0">
                <a:solidFill>
                  <a:srgbClr val="0B122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Book a 15-minute demo</a:t>
            </a:r>
            <a:endParaRPr lang="en-US" sz="21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0B122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>
            <a:alphaModFix amt="70000"/>
          </a:blip>
          <a:stretch>
            <a:fillRect/>
          </a:stretch>
        </p:blipFill>
        <p:spPr>
          <a:xfrm>
            <a:off x="7589520" y="502920"/>
            <a:ext cx="1005840" cy="100584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548640" y="1554480"/>
            <a:ext cx="8229600" cy="1645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0000"/>
              </a:lnSpc>
              <a:buNone/>
            </a:pPr>
            <a:r>
              <a:rPr lang="en-US" sz="4600" b="1" dirty="0">
                <a:solidFill>
                  <a:srgbClr val="F8FAF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Stop letting the phone</a:t>
            </a:r>
            <a:endParaRPr lang="en-US" sz="4600" dirty="0"/>
          </a:p>
          <a:p>
            <a:pPr indent="0" marL="0">
              <a:lnSpc>
                <a:spcPct val="100000"/>
              </a:lnSpc>
              <a:buNone/>
            </a:pPr>
            <a:r>
              <a:rPr lang="en-US" sz="4600" b="1" dirty="0">
                <a:solidFill>
                  <a:srgbClr val="F9731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cost you customers.</a:t>
            </a:r>
            <a:endParaRPr lang="en-US" sz="4600" dirty="0"/>
          </a:p>
        </p:txBody>
      </p:sp>
      <p:sp>
        <p:nvSpPr>
          <p:cNvPr id="4" name="Text 1"/>
          <p:cNvSpPr/>
          <p:nvPr/>
        </p:nvSpPr>
        <p:spPr>
          <a:xfrm>
            <a:off x="566928" y="3520440"/>
            <a:ext cx="8229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F8FAF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[Your Agency]    .    [your phone]    .    [your email]</a:t>
            </a:r>
            <a:endParaRPr lang="en-US" sz="1500" dirty="0"/>
          </a:p>
        </p:txBody>
      </p:sp>
      <p:sp>
        <p:nvSpPr>
          <p:cNvPr id="5" name="Text 2"/>
          <p:cNvSpPr/>
          <p:nvPr/>
        </p:nvSpPr>
        <p:spPr>
          <a:xfrm>
            <a:off x="566928" y="4526280"/>
            <a:ext cx="80467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9AA7C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Numbers shown are illustrative examples. Set your own pricing. Regulated trades (legal, medical) follow their own advertising and privacy rules.</a:t>
            </a:r>
            <a:endParaRPr lang="en-US" sz="10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11</Slides>
  <Notes>11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11</vt:i4>
      </vt:variant>
    </vt:vector>
  </HeadingPairs>
  <TitlesOfParts>
    <vt:vector size="14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AI Front Desk Pitch</dc:title>
  <dc:subject>PptxGenJS Presentation</dc:subject>
  <dc:creator>[Your Agency]</dc:creator>
  <cp:lastModifiedBy>[Your Agency]</cp:lastModifiedBy>
  <cp:revision>1</cp:revision>
  <dcterms:created xsi:type="dcterms:W3CDTF">2026-06-25T14:02:22Z</dcterms:created>
  <dcterms:modified xsi:type="dcterms:W3CDTF">2026-06-25T14:02:22Z</dcterms:modified>
</cp:coreProperties>
</file>